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2"/>
  </p:notesMasterIdLst>
  <p:sldIdLst>
    <p:sldId id="256" r:id="rId2"/>
    <p:sldId id="266" r:id="rId3"/>
    <p:sldId id="267" r:id="rId4"/>
    <p:sldId id="269" r:id="rId5"/>
    <p:sldId id="270" r:id="rId6"/>
    <p:sldId id="271" r:id="rId7"/>
    <p:sldId id="272" r:id="rId8"/>
    <p:sldId id="273" r:id="rId9"/>
    <p:sldId id="275" r:id="rId10"/>
    <p:sldId id="277" r:id="rId11"/>
  </p:sldIdLst>
  <p:sldSz cx="9144000" cy="5143500" type="screen16x9"/>
  <p:notesSz cx="6858000" cy="9144000"/>
  <p:embeddedFontLst>
    <p:embeddedFont>
      <p:font typeface="Bell MT" panose="02020503060305020303" pitchFamily="18" charset="0"/>
      <p:regular r:id="rId13"/>
      <p:bold r:id="rId14"/>
      <p:italic r:id="rId15"/>
    </p:embeddedFont>
    <p:embeddedFont>
      <p:font typeface="Bodoni MT" panose="02070603080606020203" pitchFamily="18" charset="0"/>
      <p:regular r:id="rId16"/>
      <p:bold r:id="rId17"/>
      <p:italic r:id="rId18"/>
      <p:boldItalic r:id="rId19"/>
    </p:embeddedFont>
    <p:embeddedFont>
      <p:font typeface="IBM Plex Sans" panose="020B0503050203000203" pitchFamily="34" charset="0"/>
      <p:regular r:id="rId20"/>
      <p:bold r:id="rId21"/>
    </p:embeddedFont>
    <p:embeddedFont>
      <p:font typeface="Tahoma" panose="020B0604030504040204" pitchFamily="3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6E9F5D-FA2C-4E0B-A7F6-4F3C31E6F79C}">
  <a:tblStyle styleId="{4B6E9F5D-FA2C-4E0B-A7F6-4F3C31E6F79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B3F0A78-EFB3-0AFB-5693-C823150C2A3E}"/>
            </a:ext>
          </a:extLst>
        </p:cNvPr>
        <p:cNvGrpSpPr/>
        <p:nvPr/>
      </p:nvGrpSpPr>
      <p:grpSpPr>
        <a:xfrm>
          <a:off x="0" y="0"/>
          <a:ext cx="0" cy="0"/>
          <a:chOff x="0" y="0"/>
          <a:chExt cx="0" cy="0"/>
        </a:xfrm>
      </p:grpSpPr>
      <p:sp>
        <p:nvSpPr>
          <p:cNvPr id="120" name="Google Shape;120;p:notes">
            <a:extLst>
              <a:ext uri="{FF2B5EF4-FFF2-40B4-BE49-F238E27FC236}">
                <a16:creationId xmlns:a16="http://schemas.microsoft.com/office/drawing/2014/main" id="{09883FC3-18BC-46B0-6E23-AE1E0B0C53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a:extLst>
              <a:ext uri="{FF2B5EF4-FFF2-40B4-BE49-F238E27FC236}">
                <a16:creationId xmlns:a16="http://schemas.microsoft.com/office/drawing/2014/main" id="{2BF09CFE-991C-E40F-54D9-2249791D67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2215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F669267A-8736-DADD-5D4B-A7E235708603}"/>
            </a:ext>
          </a:extLst>
        </p:cNvPr>
        <p:cNvGrpSpPr/>
        <p:nvPr/>
      </p:nvGrpSpPr>
      <p:grpSpPr>
        <a:xfrm>
          <a:off x="0" y="0"/>
          <a:ext cx="0" cy="0"/>
          <a:chOff x="0" y="0"/>
          <a:chExt cx="0" cy="0"/>
        </a:xfrm>
      </p:grpSpPr>
      <p:sp>
        <p:nvSpPr>
          <p:cNvPr id="120" name="Google Shape;120;p:notes">
            <a:extLst>
              <a:ext uri="{FF2B5EF4-FFF2-40B4-BE49-F238E27FC236}">
                <a16:creationId xmlns:a16="http://schemas.microsoft.com/office/drawing/2014/main" id="{E0A98A67-06DB-5CE8-10B0-26F959B60B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a:extLst>
              <a:ext uri="{FF2B5EF4-FFF2-40B4-BE49-F238E27FC236}">
                <a16:creationId xmlns:a16="http://schemas.microsoft.com/office/drawing/2014/main" id="{558BA362-04A2-4CBB-3974-63F6470289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6601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2BC02651-F8BF-5377-15FC-25E9D3ED319C}"/>
            </a:ext>
          </a:extLst>
        </p:cNvPr>
        <p:cNvGrpSpPr/>
        <p:nvPr/>
      </p:nvGrpSpPr>
      <p:grpSpPr>
        <a:xfrm>
          <a:off x="0" y="0"/>
          <a:ext cx="0" cy="0"/>
          <a:chOff x="0" y="0"/>
          <a:chExt cx="0" cy="0"/>
        </a:xfrm>
      </p:grpSpPr>
      <p:sp>
        <p:nvSpPr>
          <p:cNvPr id="120" name="Google Shape;120;p:notes">
            <a:extLst>
              <a:ext uri="{FF2B5EF4-FFF2-40B4-BE49-F238E27FC236}">
                <a16:creationId xmlns:a16="http://schemas.microsoft.com/office/drawing/2014/main" id="{4917EE8D-4944-2A91-98C3-6508B6A17C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a:extLst>
              <a:ext uri="{FF2B5EF4-FFF2-40B4-BE49-F238E27FC236}">
                <a16:creationId xmlns:a16="http://schemas.microsoft.com/office/drawing/2014/main" id="{F073DCB9-5C0B-D0DC-BA13-52BA3EA0E3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268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E438912C-B021-E901-EC2B-4A0DA01BEB5B}"/>
            </a:ext>
          </a:extLst>
        </p:cNvPr>
        <p:cNvGrpSpPr/>
        <p:nvPr/>
      </p:nvGrpSpPr>
      <p:grpSpPr>
        <a:xfrm>
          <a:off x="0" y="0"/>
          <a:ext cx="0" cy="0"/>
          <a:chOff x="0" y="0"/>
          <a:chExt cx="0" cy="0"/>
        </a:xfrm>
      </p:grpSpPr>
      <p:sp>
        <p:nvSpPr>
          <p:cNvPr id="120" name="Google Shape;120;p:notes">
            <a:extLst>
              <a:ext uri="{FF2B5EF4-FFF2-40B4-BE49-F238E27FC236}">
                <a16:creationId xmlns:a16="http://schemas.microsoft.com/office/drawing/2014/main" id="{14D3492E-6BA7-B56F-394D-BAB5A3AC87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a:extLst>
              <a:ext uri="{FF2B5EF4-FFF2-40B4-BE49-F238E27FC236}">
                <a16:creationId xmlns:a16="http://schemas.microsoft.com/office/drawing/2014/main" id="{B91E2FB7-F612-F4C9-5E7F-633101A5D0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224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D2C09550-73A1-6870-6FA2-C26DC7739679}"/>
            </a:ext>
          </a:extLst>
        </p:cNvPr>
        <p:cNvGrpSpPr/>
        <p:nvPr/>
      </p:nvGrpSpPr>
      <p:grpSpPr>
        <a:xfrm>
          <a:off x="0" y="0"/>
          <a:ext cx="0" cy="0"/>
          <a:chOff x="0" y="0"/>
          <a:chExt cx="0" cy="0"/>
        </a:xfrm>
      </p:grpSpPr>
      <p:sp>
        <p:nvSpPr>
          <p:cNvPr id="120" name="Google Shape;120;p:notes">
            <a:extLst>
              <a:ext uri="{FF2B5EF4-FFF2-40B4-BE49-F238E27FC236}">
                <a16:creationId xmlns:a16="http://schemas.microsoft.com/office/drawing/2014/main" id="{21F0B6C4-AA6E-783B-F55B-4AB4B29846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a:extLst>
              <a:ext uri="{FF2B5EF4-FFF2-40B4-BE49-F238E27FC236}">
                <a16:creationId xmlns:a16="http://schemas.microsoft.com/office/drawing/2014/main" id="{729CF13B-DEA4-9D94-878A-4BA993A1B0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1922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0E201B2-E391-782B-DE68-09ACD6570B77}"/>
            </a:ext>
          </a:extLst>
        </p:cNvPr>
        <p:cNvGrpSpPr/>
        <p:nvPr/>
      </p:nvGrpSpPr>
      <p:grpSpPr>
        <a:xfrm>
          <a:off x="0" y="0"/>
          <a:ext cx="0" cy="0"/>
          <a:chOff x="0" y="0"/>
          <a:chExt cx="0" cy="0"/>
        </a:xfrm>
      </p:grpSpPr>
      <p:sp>
        <p:nvSpPr>
          <p:cNvPr id="120" name="Google Shape;120;p:notes">
            <a:extLst>
              <a:ext uri="{FF2B5EF4-FFF2-40B4-BE49-F238E27FC236}">
                <a16:creationId xmlns:a16="http://schemas.microsoft.com/office/drawing/2014/main" id="{8000777B-6780-490B-BF66-8E31E5D352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a:extLst>
              <a:ext uri="{FF2B5EF4-FFF2-40B4-BE49-F238E27FC236}">
                <a16:creationId xmlns:a16="http://schemas.microsoft.com/office/drawing/2014/main" id="{E31476B1-5EE0-AF15-FE9C-BCE095E102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5862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9CDFDED9-2A3A-7386-3CEB-D7B076E0DB82}"/>
            </a:ext>
          </a:extLst>
        </p:cNvPr>
        <p:cNvGrpSpPr/>
        <p:nvPr/>
      </p:nvGrpSpPr>
      <p:grpSpPr>
        <a:xfrm>
          <a:off x="0" y="0"/>
          <a:ext cx="0" cy="0"/>
          <a:chOff x="0" y="0"/>
          <a:chExt cx="0" cy="0"/>
        </a:xfrm>
      </p:grpSpPr>
      <p:sp>
        <p:nvSpPr>
          <p:cNvPr id="120" name="Google Shape;120;p:notes">
            <a:extLst>
              <a:ext uri="{FF2B5EF4-FFF2-40B4-BE49-F238E27FC236}">
                <a16:creationId xmlns:a16="http://schemas.microsoft.com/office/drawing/2014/main" id="{9ABADB55-62A5-37DB-43CC-16D62AE6E2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a:extLst>
              <a:ext uri="{FF2B5EF4-FFF2-40B4-BE49-F238E27FC236}">
                <a16:creationId xmlns:a16="http://schemas.microsoft.com/office/drawing/2014/main" id="{B82B1629-7AF3-DE47-7DF1-425DBE5251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6246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60244BEF-F05A-9948-0B00-696BEB56232F}"/>
            </a:ext>
          </a:extLst>
        </p:cNvPr>
        <p:cNvGrpSpPr/>
        <p:nvPr/>
      </p:nvGrpSpPr>
      <p:grpSpPr>
        <a:xfrm>
          <a:off x="0" y="0"/>
          <a:ext cx="0" cy="0"/>
          <a:chOff x="0" y="0"/>
          <a:chExt cx="0" cy="0"/>
        </a:xfrm>
      </p:grpSpPr>
      <p:sp>
        <p:nvSpPr>
          <p:cNvPr id="120" name="Google Shape;120;p:notes">
            <a:extLst>
              <a:ext uri="{FF2B5EF4-FFF2-40B4-BE49-F238E27FC236}">
                <a16:creationId xmlns:a16="http://schemas.microsoft.com/office/drawing/2014/main" id="{C0DC37C4-3646-53BA-31B7-209270916E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a:extLst>
              <a:ext uri="{FF2B5EF4-FFF2-40B4-BE49-F238E27FC236}">
                <a16:creationId xmlns:a16="http://schemas.microsoft.com/office/drawing/2014/main" id="{E4CD1AE7-8AAE-16B3-739E-83D66571FC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7184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519EFE41-D847-ACF5-2E40-8DD36D3091F5}"/>
            </a:ext>
          </a:extLst>
        </p:cNvPr>
        <p:cNvGrpSpPr/>
        <p:nvPr/>
      </p:nvGrpSpPr>
      <p:grpSpPr>
        <a:xfrm>
          <a:off x="0" y="0"/>
          <a:ext cx="0" cy="0"/>
          <a:chOff x="0" y="0"/>
          <a:chExt cx="0" cy="0"/>
        </a:xfrm>
      </p:grpSpPr>
      <p:sp>
        <p:nvSpPr>
          <p:cNvPr id="120" name="Google Shape;120;p:notes">
            <a:extLst>
              <a:ext uri="{FF2B5EF4-FFF2-40B4-BE49-F238E27FC236}">
                <a16:creationId xmlns:a16="http://schemas.microsoft.com/office/drawing/2014/main" id="{410761F6-29A9-07C4-888E-0D3C487610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a:extLst>
              <a:ext uri="{FF2B5EF4-FFF2-40B4-BE49-F238E27FC236}">
                <a16:creationId xmlns:a16="http://schemas.microsoft.com/office/drawing/2014/main" id="{4B490F55-1896-B795-2D37-1B9D73CCC7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025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22719" y="114965"/>
            <a:ext cx="5611200" cy="387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2200" b="1" i="0">
                <a:solidFill>
                  <a:schemeClr val="lt1"/>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880861" y="1279047"/>
            <a:ext cx="3799500" cy="1198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sz="1700" b="0" i="0">
                <a:solidFill>
                  <a:schemeClr val="dk1"/>
                </a:solidFill>
                <a:latin typeface="Tahoma"/>
                <a:ea typeface="Tahoma"/>
                <a:cs typeface="Tahoma"/>
                <a:sym typeface="Tahoma"/>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53" name="Google Shape;53;p13"/>
          <p:cNvSpPr txBox="1">
            <a:spLocks noGrp="1"/>
          </p:cNvSpPr>
          <p:nvPr>
            <p:ph type="ftr" idx="11"/>
          </p:nvPr>
        </p:nvSpPr>
        <p:spPr>
          <a:xfrm>
            <a:off x="3108960" y="4783454"/>
            <a:ext cx="2925900" cy="2574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54" name="Google Shape;54;p13"/>
          <p:cNvSpPr txBox="1">
            <a:spLocks noGrp="1"/>
          </p:cNvSpPr>
          <p:nvPr>
            <p:ph type="dt" idx="10"/>
          </p:nvPr>
        </p:nvSpPr>
        <p:spPr>
          <a:xfrm>
            <a:off x="457200" y="4783454"/>
            <a:ext cx="2103000" cy="25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55" name="Google Shape;55;p13"/>
          <p:cNvSpPr txBox="1">
            <a:spLocks noGrp="1"/>
          </p:cNvSpPr>
          <p:nvPr>
            <p:ph type="sldNum" idx="12"/>
          </p:nvPr>
        </p:nvSpPr>
        <p:spPr>
          <a:xfrm>
            <a:off x="8595863" y="4953905"/>
            <a:ext cx="403500" cy="327000"/>
          </a:xfrm>
          <a:prstGeom prst="rect">
            <a:avLst/>
          </a:prstGeom>
          <a:noFill/>
          <a:ln>
            <a:noFill/>
          </a:ln>
        </p:spPr>
        <p:txBody>
          <a:bodyPr spcFirstLastPara="1" wrap="square" lIns="0" tIns="0" rIns="0" bIns="0" anchor="t" anchorCtr="0">
            <a:spAutoFit/>
          </a:bodyPr>
          <a:lstStyle>
            <a:lvl1pPr marL="88900" lvl="0" indent="0">
              <a:lnSpc>
                <a:spcPct val="112500"/>
              </a:lnSpc>
              <a:spcBef>
                <a:spcPts val="0"/>
              </a:spcBef>
              <a:buNone/>
              <a:defRPr sz="1000" b="0" i="0">
                <a:solidFill>
                  <a:schemeClr val="dk1"/>
                </a:solidFill>
                <a:latin typeface="Arial"/>
                <a:ea typeface="Arial"/>
                <a:cs typeface="Arial"/>
                <a:sym typeface="Arial"/>
              </a:defRPr>
            </a:lvl1pPr>
            <a:lvl2pPr marL="88900" lvl="1" indent="0">
              <a:lnSpc>
                <a:spcPct val="112500"/>
              </a:lnSpc>
              <a:spcBef>
                <a:spcPts val="0"/>
              </a:spcBef>
              <a:buNone/>
              <a:defRPr sz="1000" b="0" i="0">
                <a:solidFill>
                  <a:schemeClr val="dk1"/>
                </a:solidFill>
                <a:latin typeface="Arial"/>
                <a:ea typeface="Arial"/>
                <a:cs typeface="Arial"/>
                <a:sym typeface="Arial"/>
              </a:defRPr>
            </a:lvl2pPr>
            <a:lvl3pPr marL="88900" lvl="2" indent="0">
              <a:lnSpc>
                <a:spcPct val="112500"/>
              </a:lnSpc>
              <a:spcBef>
                <a:spcPts val="0"/>
              </a:spcBef>
              <a:buNone/>
              <a:defRPr sz="1000" b="0" i="0">
                <a:solidFill>
                  <a:schemeClr val="dk1"/>
                </a:solidFill>
                <a:latin typeface="Arial"/>
                <a:ea typeface="Arial"/>
                <a:cs typeface="Arial"/>
                <a:sym typeface="Arial"/>
              </a:defRPr>
            </a:lvl3pPr>
            <a:lvl4pPr marL="88900" lvl="3" indent="0">
              <a:lnSpc>
                <a:spcPct val="112500"/>
              </a:lnSpc>
              <a:spcBef>
                <a:spcPts val="0"/>
              </a:spcBef>
              <a:buNone/>
              <a:defRPr sz="1000" b="0" i="0">
                <a:solidFill>
                  <a:schemeClr val="dk1"/>
                </a:solidFill>
                <a:latin typeface="Arial"/>
                <a:ea typeface="Arial"/>
                <a:cs typeface="Arial"/>
                <a:sym typeface="Arial"/>
              </a:defRPr>
            </a:lvl4pPr>
            <a:lvl5pPr marL="88900" lvl="4" indent="0">
              <a:lnSpc>
                <a:spcPct val="112500"/>
              </a:lnSpc>
              <a:spcBef>
                <a:spcPts val="0"/>
              </a:spcBef>
              <a:buNone/>
              <a:defRPr sz="1000" b="0" i="0">
                <a:solidFill>
                  <a:schemeClr val="dk1"/>
                </a:solidFill>
                <a:latin typeface="Arial"/>
                <a:ea typeface="Arial"/>
                <a:cs typeface="Arial"/>
                <a:sym typeface="Arial"/>
              </a:defRPr>
            </a:lvl5pPr>
            <a:lvl6pPr marL="88900" lvl="5" indent="0">
              <a:lnSpc>
                <a:spcPct val="112500"/>
              </a:lnSpc>
              <a:spcBef>
                <a:spcPts val="0"/>
              </a:spcBef>
              <a:buNone/>
              <a:defRPr sz="1000" b="0" i="0">
                <a:solidFill>
                  <a:schemeClr val="dk1"/>
                </a:solidFill>
                <a:latin typeface="Arial"/>
                <a:ea typeface="Arial"/>
                <a:cs typeface="Arial"/>
                <a:sym typeface="Arial"/>
              </a:defRPr>
            </a:lvl6pPr>
            <a:lvl7pPr marL="88900" lvl="6" indent="0">
              <a:lnSpc>
                <a:spcPct val="112500"/>
              </a:lnSpc>
              <a:spcBef>
                <a:spcPts val="0"/>
              </a:spcBef>
              <a:buNone/>
              <a:defRPr sz="1000" b="0" i="0">
                <a:solidFill>
                  <a:schemeClr val="dk1"/>
                </a:solidFill>
                <a:latin typeface="Arial"/>
                <a:ea typeface="Arial"/>
                <a:cs typeface="Arial"/>
                <a:sym typeface="Arial"/>
              </a:defRPr>
            </a:lvl7pPr>
            <a:lvl8pPr marL="88900" lvl="7" indent="0">
              <a:lnSpc>
                <a:spcPct val="112500"/>
              </a:lnSpc>
              <a:spcBef>
                <a:spcPts val="0"/>
              </a:spcBef>
              <a:buNone/>
              <a:defRPr sz="1000" b="0" i="0">
                <a:solidFill>
                  <a:schemeClr val="dk1"/>
                </a:solidFill>
                <a:latin typeface="Arial"/>
                <a:ea typeface="Arial"/>
                <a:cs typeface="Arial"/>
                <a:sym typeface="Arial"/>
              </a:defRPr>
            </a:lvl8pPr>
            <a:lvl9pPr marL="88900" lvl="8" indent="0">
              <a:lnSpc>
                <a:spcPct val="112500"/>
              </a:lnSpc>
              <a:spcBef>
                <a:spcPts val="0"/>
              </a:spcBef>
              <a:buNone/>
              <a:defRPr sz="1000" b="0" i="0">
                <a:solidFill>
                  <a:schemeClr val="dk1"/>
                </a:solidFill>
                <a:latin typeface="Arial"/>
                <a:ea typeface="Arial"/>
                <a:cs typeface="Arial"/>
                <a:sym typeface="Arial"/>
              </a:defRPr>
            </a:lvl9pPr>
          </a:lstStyle>
          <a:p>
            <a:pPr marL="88900" lvl="0" indent="0" algn="r" rtl="0">
              <a:spcBef>
                <a:spcPts val="0"/>
              </a:spcBef>
              <a:spcAft>
                <a:spcPts val="0"/>
              </a:spcAft>
              <a:buNone/>
            </a:pPr>
            <a:fld id="{00000000-1234-1234-1234-123412341234}" type="slidenum">
              <a:rPr lang="en"/>
              <a:t>‹#›</a:t>
            </a:fld>
            <a:r>
              <a:rPr lang="en"/>
              <a:t> / 14</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github.com/vaidikpatel178-star/IBM-PPT-NEW"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9"/>
          <p:cNvSpPr txBox="1">
            <a:spLocks noGrp="1"/>
          </p:cNvSpPr>
          <p:nvPr>
            <p:ph type="ctrTitle"/>
          </p:nvPr>
        </p:nvSpPr>
        <p:spPr>
          <a:xfrm>
            <a:off x="311708" y="600700"/>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Project Title</a:t>
            </a:r>
            <a:endParaRPr/>
          </a:p>
          <a:p>
            <a:pPr marL="0" lvl="0" indent="0" algn="ctr" rtl="0">
              <a:spcBef>
                <a:spcPts val="0"/>
              </a:spcBef>
              <a:spcAft>
                <a:spcPts val="0"/>
              </a:spcAft>
              <a:buNone/>
            </a:pPr>
            <a:r>
              <a:rPr lang="en" sz="2800"/>
              <a:t>GTU SBTP -2026 (Subject Code: DI05000011)</a:t>
            </a:r>
            <a:endParaRPr sz="2800"/>
          </a:p>
        </p:txBody>
      </p:sp>
      <p:sp>
        <p:nvSpPr>
          <p:cNvPr id="124" name="Google Shape;124;p29"/>
          <p:cNvSpPr txBox="1">
            <a:spLocks noGrp="1"/>
          </p:cNvSpPr>
          <p:nvPr>
            <p:ph type="subTitle" idx="1"/>
          </p:nvPr>
        </p:nvSpPr>
        <p:spPr>
          <a:xfrm>
            <a:off x="965175" y="2782325"/>
            <a:ext cx="8520600" cy="792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275"/>
              <a:buNone/>
            </a:pPr>
            <a:r>
              <a:rPr lang="en" sz="1400" b="1" dirty="0">
                <a:solidFill>
                  <a:srgbClr val="351C75"/>
                </a:solidFill>
              </a:rPr>
              <a:t>Student Name : PATEL VAIDIK DILPESHKUMAR</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Enrollment no.: 246310307127</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College Name : K D Polytechnic 	Patan </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Branch and Year :Computer Engineering &amp; 5</a:t>
            </a:r>
            <a:r>
              <a:rPr lang="en" sz="1400" b="1" baseline="30000" dirty="0">
                <a:solidFill>
                  <a:srgbClr val="351C75"/>
                </a:solidFill>
              </a:rPr>
              <a:t>tH </a:t>
            </a:r>
            <a:r>
              <a:rPr lang="en" sz="1400" b="1" dirty="0">
                <a:solidFill>
                  <a:srgbClr val="351C75"/>
                </a:solidFill>
              </a:rPr>
              <a:t>SEM</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Branch code: 07</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Gender :Male </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Registered Mail ID :vaidikpatel178@gmail.com</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Contact No.8490988288</a:t>
            </a:r>
            <a:endParaRPr sz="1400" b="1" dirty="0">
              <a:solidFill>
                <a:srgbClr val="351C75"/>
              </a:solidFill>
            </a:endParaRPr>
          </a:p>
          <a:p>
            <a:pPr marL="0" lvl="0" indent="0" algn="l" rtl="0">
              <a:lnSpc>
                <a:spcPct val="115000"/>
              </a:lnSpc>
              <a:spcBef>
                <a:spcPts val="0"/>
              </a:spcBef>
              <a:spcAft>
                <a:spcPts val="0"/>
              </a:spcAft>
              <a:buSzPts val="275"/>
              <a:buNone/>
            </a:pPr>
            <a:endParaRPr sz="700" dirty="0">
              <a:solidFill>
                <a:srgbClr val="351C75"/>
              </a:solidFill>
            </a:endParaRPr>
          </a:p>
        </p:txBody>
      </p:sp>
      <p:pic>
        <p:nvPicPr>
          <p:cNvPr id="126" name="Google Shape;126;p29" title="BharatCares_Original@2x.png"/>
          <p:cNvPicPr preferRelativeResize="0"/>
          <p:nvPr/>
        </p:nvPicPr>
        <p:blipFill>
          <a:blip r:embed="rId3">
            <a:alphaModFix/>
          </a:blip>
          <a:stretch>
            <a:fillRect/>
          </a:stretch>
        </p:blipFill>
        <p:spPr>
          <a:xfrm>
            <a:off x="311712" y="150656"/>
            <a:ext cx="1585431" cy="616960"/>
          </a:xfrm>
          <a:prstGeom prst="rect">
            <a:avLst/>
          </a:prstGeom>
          <a:noFill/>
          <a:ln>
            <a:noFill/>
          </a:ln>
        </p:spPr>
      </p:pic>
      <p:pic>
        <p:nvPicPr>
          <p:cNvPr id="3" name="Picture 2">
            <a:extLst>
              <a:ext uri="{FF2B5EF4-FFF2-40B4-BE49-F238E27FC236}">
                <a16:creationId xmlns:a16="http://schemas.microsoft.com/office/drawing/2014/main" id="{03D7F4F7-3CB2-0543-F4A4-56E14A67C2E5}"/>
              </a:ext>
            </a:extLst>
          </p:cNvPr>
          <p:cNvPicPr>
            <a:picLocks noChangeAspect="1"/>
          </p:cNvPicPr>
          <p:nvPr/>
        </p:nvPicPr>
        <p:blipFill>
          <a:blip r:embed="rId4"/>
          <a:stretch>
            <a:fillRect/>
          </a:stretch>
        </p:blipFill>
        <p:spPr>
          <a:xfrm>
            <a:off x="8035759" y="62531"/>
            <a:ext cx="796529" cy="7050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32EC645-47DE-7C20-F850-6F6DB17A423D}"/>
            </a:ext>
          </a:extLst>
        </p:cNvPr>
        <p:cNvGrpSpPr/>
        <p:nvPr/>
      </p:nvGrpSpPr>
      <p:grpSpPr>
        <a:xfrm>
          <a:off x="0" y="0"/>
          <a:ext cx="0" cy="0"/>
          <a:chOff x="0" y="0"/>
          <a:chExt cx="0" cy="0"/>
        </a:xfrm>
      </p:grpSpPr>
      <p:pic>
        <p:nvPicPr>
          <p:cNvPr id="126" name="Google Shape;126;p29" title="BharatCares_Original@2x.png">
            <a:extLst>
              <a:ext uri="{FF2B5EF4-FFF2-40B4-BE49-F238E27FC236}">
                <a16:creationId xmlns:a16="http://schemas.microsoft.com/office/drawing/2014/main" id="{524A10F9-C6C8-7FCC-B8B3-F3B44C7CB836}"/>
              </a:ext>
            </a:extLst>
          </p:cNvPr>
          <p:cNvPicPr preferRelativeResize="0"/>
          <p:nvPr/>
        </p:nvPicPr>
        <p:blipFill>
          <a:blip r:embed="rId3">
            <a:alphaModFix/>
          </a:blip>
          <a:stretch>
            <a:fillRect/>
          </a:stretch>
        </p:blipFill>
        <p:spPr>
          <a:xfrm>
            <a:off x="311712" y="150656"/>
            <a:ext cx="1550039" cy="616960"/>
          </a:xfrm>
          <a:prstGeom prst="rect">
            <a:avLst/>
          </a:prstGeom>
          <a:noFill/>
          <a:ln>
            <a:noFill/>
          </a:ln>
        </p:spPr>
      </p:pic>
      <p:pic>
        <p:nvPicPr>
          <p:cNvPr id="3" name="Picture 2">
            <a:extLst>
              <a:ext uri="{FF2B5EF4-FFF2-40B4-BE49-F238E27FC236}">
                <a16:creationId xmlns:a16="http://schemas.microsoft.com/office/drawing/2014/main" id="{8A7D6B62-9BED-98BC-F478-1B3BE9C724D5}"/>
              </a:ext>
            </a:extLst>
          </p:cNvPr>
          <p:cNvPicPr>
            <a:picLocks noChangeAspect="1"/>
          </p:cNvPicPr>
          <p:nvPr/>
        </p:nvPicPr>
        <p:blipFill>
          <a:blip r:embed="rId4"/>
          <a:stretch>
            <a:fillRect/>
          </a:stretch>
        </p:blipFill>
        <p:spPr>
          <a:xfrm>
            <a:off x="8035759" y="62531"/>
            <a:ext cx="796529" cy="705085"/>
          </a:xfrm>
          <a:prstGeom prst="rect">
            <a:avLst/>
          </a:prstGeom>
        </p:spPr>
      </p:pic>
      <p:sp>
        <p:nvSpPr>
          <p:cNvPr id="4" name="Google Shape;131;p30">
            <a:extLst>
              <a:ext uri="{FF2B5EF4-FFF2-40B4-BE49-F238E27FC236}">
                <a16:creationId xmlns:a16="http://schemas.microsoft.com/office/drawing/2014/main" id="{EE4282CA-27EC-BEAB-1750-2404C5B3E71C}"/>
              </a:ext>
            </a:extLst>
          </p:cNvPr>
          <p:cNvSpPr txBox="1"/>
          <p:nvPr/>
        </p:nvSpPr>
        <p:spPr>
          <a:xfrm>
            <a:off x="502214" y="1195533"/>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dirty="0"/>
              <a:t>What did you learned in this Program?</a:t>
            </a:r>
            <a:endParaRPr sz="2500" b="1" dirty="0"/>
          </a:p>
        </p:txBody>
      </p:sp>
      <p:sp>
        <p:nvSpPr>
          <p:cNvPr id="7" name="TextBox 6">
            <a:extLst>
              <a:ext uri="{FF2B5EF4-FFF2-40B4-BE49-F238E27FC236}">
                <a16:creationId xmlns:a16="http://schemas.microsoft.com/office/drawing/2014/main" id="{CDCC5215-13FD-B0F5-B5F3-C3D302D8E1F1}"/>
              </a:ext>
            </a:extLst>
          </p:cNvPr>
          <p:cNvSpPr txBox="1"/>
          <p:nvPr/>
        </p:nvSpPr>
        <p:spPr>
          <a:xfrm>
            <a:off x="355952" y="1913552"/>
            <a:ext cx="7139870" cy="2800767"/>
          </a:xfrm>
          <a:prstGeom prst="rect">
            <a:avLst/>
          </a:prstGeom>
          <a:noFill/>
        </p:spPr>
        <p:txBody>
          <a:bodyPr wrap="square">
            <a:spAutoFit/>
          </a:bodyPr>
          <a:lstStyle/>
          <a:p>
            <a:pPr marL="285750" indent="-285750">
              <a:buFont typeface="Wingdings" panose="05000000000000000000" pitchFamily="2" charset="2"/>
              <a:buChar char="q"/>
            </a:pPr>
            <a:r>
              <a:rPr lang="en-US" sz="1600" b="1" dirty="0">
                <a:latin typeface="Bodoni MT" panose="02070603080606020203" pitchFamily="18" charset="0"/>
              </a:rPr>
              <a:t>During this program, I learned how Artificial Intelligence can be used to design, develop, and deploy a complete Online Food Delivery Website. AI helped me generate the website structure, user interface, and code quickly. I learned how to customize AI-generated code, improve website design, add food items and categories, implement an online ordering system, and deploy the project on the internet.</a:t>
            </a:r>
          </a:p>
          <a:p>
            <a:pPr marL="285750" indent="-285750">
              <a:buFont typeface="Wingdings" panose="05000000000000000000" pitchFamily="2" charset="2"/>
              <a:buChar char="q"/>
            </a:pPr>
            <a:endParaRPr lang="en-US" sz="1600" b="1" dirty="0">
              <a:latin typeface="Bodoni MT" panose="02070603080606020203" pitchFamily="18" charset="0"/>
            </a:endParaRPr>
          </a:p>
          <a:p>
            <a:pPr marL="285750" indent="-285750">
              <a:buFont typeface="Wingdings" panose="05000000000000000000" pitchFamily="2" charset="2"/>
              <a:buChar char="q"/>
            </a:pPr>
            <a:r>
              <a:rPr lang="en-US" sz="1600" b="1" dirty="0">
                <a:latin typeface="Bodoni MT" panose="02070603080606020203" pitchFamily="18" charset="0"/>
              </a:rPr>
              <a:t>This project enhanced my knowledge of responsive web design, frontend development, user experience, website deployment, debugging, and AI-assisted development. I also learned how to optimize a website for both desktop and mobile user</a:t>
            </a:r>
          </a:p>
        </p:txBody>
      </p:sp>
    </p:spTree>
    <p:extLst>
      <p:ext uri="{BB962C8B-B14F-4D97-AF65-F5344CB8AC3E}">
        <p14:creationId xmlns:p14="http://schemas.microsoft.com/office/powerpoint/2010/main" val="3302846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3DF333CC-D712-20DD-C367-DE20C87C5C1F}"/>
            </a:ext>
          </a:extLst>
        </p:cNvPr>
        <p:cNvGrpSpPr/>
        <p:nvPr/>
      </p:nvGrpSpPr>
      <p:grpSpPr>
        <a:xfrm>
          <a:off x="0" y="0"/>
          <a:ext cx="0" cy="0"/>
          <a:chOff x="0" y="0"/>
          <a:chExt cx="0" cy="0"/>
        </a:xfrm>
      </p:grpSpPr>
      <p:pic>
        <p:nvPicPr>
          <p:cNvPr id="126" name="Google Shape;126;p29" title="BharatCares_Original@2x.png">
            <a:extLst>
              <a:ext uri="{FF2B5EF4-FFF2-40B4-BE49-F238E27FC236}">
                <a16:creationId xmlns:a16="http://schemas.microsoft.com/office/drawing/2014/main" id="{560E9DAF-7585-7BEC-0FE5-201DD7CF6626}"/>
              </a:ext>
            </a:extLst>
          </p:cNvPr>
          <p:cNvPicPr preferRelativeResize="0"/>
          <p:nvPr/>
        </p:nvPicPr>
        <p:blipFill>
          <a:blip r:embed="rId3">
            <a:alphaModFix/>
          </a:blip>
          <a:stretch>
            <a:fillRect/>
          </a:stretch>
        </p:blipFill>
        <p:spPr>
          <a:xfrm>
            <a:off x="311712" y="150656"/>
            <a:ext cx="1550039" cy="616960"/>
          </a:xfrm>
          <a:prstGeom prst="rect">
            <a:avLst/>
          </a:prstGeom>
          <a:noFill/>
          <a:ln>
            <a:noFill/>
          </a:ln>
        </p:spPr>
      </p:pic>
      <p:pic>
        <p:nvPicPr>
          <p:cNvPr id="3" name="Picture 2">
            <a:extLst>
              <a:ext uri="{FF2B5EF4-FFF2-40B4-BE49-F238E27FC236}">
                <a16:creationId xmlns:a16="http://schemas.microsoft.com/office/drawing/2014/main" id="{3E42A7BF-7507-28BA-89BC-26BD44000478}"/>
              </a:ext>
            </a:extLst>
          </p:cNvPr>
          <p:cNvPicPr>
            <a:picLocks noChangeAspect="1"/>
          </p:cNvPicPr>
          <p:nvPr/>
        </p:nvPicPr>
        <p:blipFill>
          <a:blip r:embed="rId4"/>
          <a:stretch>
            <a:fillRect/>
          </a:stretch>
        </p:blipFill>
        <p:spPr>
          <a:xfrm>
            <a:off x="8035759" y="62531"/>
            <a:ext cx="796529" cy="705085"/>
          </a:xfrm>
          <a:prstGeom prst="rect">
            <a:avLst/>
          </a:prstGeom>
        </p:spPr>
      </p:pic>
      <p:sp>
        <p:nvSpPr>
          <p:cNvPr id="136" name="Google Shape;136;p31"/>
          <p:cNvSpPr txBox="1"/>
          <p:nvPr/>
        </p:nvSpPr>
        <p:spPr>
          <a:xfrm>
            <a:off x="576950" y="1121024"/>
            <a:ext cx="7990200" cy="396000"/>
          </a:xfrm>
          <a:prstGeom prst="rect">
            <a:avLst/>
          </a:prstGeom>
          <a:noFill/>
          <a:ln>
            <a:noFill/>
          </a:ln>
        </p:spPr>
        <p:txBody>
          <a:bodyPr spcFirstLastPara="1" wrap="square" lIns="0" tIns="11050" rIns="0" bIns="0" anchor="t" anchorCtr="0">
            <a:spAutoFit/>
          </a:bodyPr>
          <a:lstStyle/>
          <a:p>
            <a:pPr marL="0" lvl="0" indent="0" algn="l" rtl="0">
              <a:lnSpc>
                <a:spcPct val="100000"/>
              </a:lnSpc>
              <a:spcBef>
                <a:spcPts val="0"/>
              </a:spcBef>
              <a:spcAft>
                <a:spcPts val="0"/>
              </a:spcAft>
              <a:buNone/>
            </a:pPr>
            <a:r>
              <a:rPr lang="en" sz="2500" b="1" dirty="0">
                <a:latin typeface="IBM Plex Sans"/>
                <a:ea typeface="IBM Plex Sans"/>
                <a:cs typeface="IBM Plex Sans"/>
                <a:sym typeface="IBM Plex Sans"/>
              </a:rPr>
              <a:t> Project Purpose (Why do you made this project?)</a:t>
            </a:r>
            <a:endParaRPr sz="2500" dirty="0">
              <a:latin typeface="IBM Plex Sans"/>
              <a:ea typeface="IBM Plex Sans"/>
              <a:cs typeface="IBM Plex Sans"/>
              <a:sym typeface="IBM Plex Sans"/>
            </a:endParaRPr>
          </a:p>
        </p:txBody>
      </p:sp>
      <p:sp>
        <p:nvSpPr>
          <p:cNvPr id="4" name="TextBox 3">
            <a:extLst>
              <a:ext uri="{FF2B5EF4-FFF2-40B4-BE49-F238E27FC236}">
                <a16:creationId xmlns:a16="http://schemas.microsoft.com/office/drawing/2014/main" id="{C4B438E5-E821-3DF6-11D4-8F55B0E59967}"/>
              </a:ext>
            </a:extLst>
          </p:cNvPr>
          <p:cNvSpPr txBox="1"/>
          <p:nvPr/>
        </p:nvSpPr>
        <p:spPr>
          <a:xfrm>
            <a:off x="576950" y="1678521"/>
            <a:ext cx="7049911" cy="3170099"/>
          </a:xfrm>
          <a:prstGeom prst="rect">
            <a:avLst/>
          </a:prstGeom>
          <a:noFill/>
        </p:spPr>
        <p:txBody>
          <a:bodyPr wrap="square">
            <a:spAutoFit/>
          </a:bodyPr>
          <a:lstStyle/>
          <a:p>
            <a:pPr marL="342900" indent="-342900">
              <a:buFont typeface="Wingdings" panose="05000000000000000000" pitchFamily="2" charset="2"/>
              <a:buChar char="q"/>
            </a:pPr>
            <a:r>
              <a:rPr lang="en-US" sz="2000" b="1" dirty="0">
                <a:latin typeface="Bodoni MT" panose="02070603080606020203" pitchFamily="18" charset="0"/>
              </a:rPr>
              <a:t>The main purpose of this project was to create a modern Online Food Delivery Website where customers can easily browse food items, explore different categories, place food orders online, and enjoy a convenient ordering experience.</a:t>
            </a:r>
          </a:p>
          <a:p>
            <a:pPr marL="342900" indent="-342900">
              <a:buFont typeface="Wingdings" panose="05000000000000000000" pitchFamily="2" charset="2"/>
              <a:buChar char="q"/>
            </a:pPr>
            <a:endParaRPr lang="en-US" sz="2000" b="1" dirty="0">
              <a:latin typeface="Bodoni MT" panose="02070603080606020203" pitchFamily="18" charset="0"/>
            </a:endParaRPr>
          </a:p>
          <a:p>
            <a:pPr marL="342900" indent="-342900">
              <a:buFont typeface="Wingdings" panose="05000000000000000000" pitchFamily="2" charset="2"/>
              <a:buChar char="q"/>
            </a:pPr>
            <a:r>
              <a:rPr lang="en-US" sz="2000" b="1" dirty="0">
                <a:latin typeface="Bodoni MT" panose="02070603080606020203" pitchFamily="18" charset="0"/>
              </a:rPr>
              <a:t>The project demonstrates how Artificial Intelligence can reduce development time while creating professional-quality websites. It also provides practical experience in AI-powered website development, UI/UX design, and real-world web application development.</a:t>
            </a:r>
          </a:p>
        </p:txBody>
      </p:sp>
    </p:spTree>
    <p:extLst>
      <p:ext uri="{BB962C8B-B14F-4D97-AF65-F5344CB8AC3E}">
        <p14:creationId xmlns:p14="http://schemas.microsoft.com/office/powerpoint/2010/main" val="1883315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73420E91-FD55-63F4-8A67-FC495A30D8CE}"/>
            </a:ext>
          </a:extLst>
        </p:cNvPr>
        <p:cNvGrpSpPr/>
        <p:nvPr/>
      </p:nvGrpSpPr>
      <p:grpSpPr>
        <a:xfrm>
          <a:off x="0" y="0"/>
          <a:ext cx="0" cy="0"/>
          <a:chOff x="0" y="0"/>
          <a:chExt cx="0" cy="0"/>
        </a:xfrm>
      </p:grpSpPr>
      <p:pic>
        <p:nvPicPr>
          <p:cNvPr id="126" name="Google Shape;126;p29" title="BharatCares_Original@2x.png">
            <a:extLst>
              <a:ext uri="{FF2B5EF4-FFF2-40B4-BE49-F238E27FC236}">
                <a16:creationId xmlns:a16="http://schemas.microsoft.com/office/drawing/2014/main" id="{CC0CF7F8-9213-125A-2D5F-CC19BD2B600F}"/>
              </a:ext>
            </a:extLst>
          </p:cNvPr>
          <p:cNvPicPr preferRelativeResize="0"/>
          <p:nvPr/>
        </p:nvPicPr>
        <p:blipFill>
          <a:blip r:embed="rId3">
            <a:alphaModFix/>
          </a:blip>
          <a:stretch>
            <a:fillRect/>
          </a:stretch>
        </p:blipFill>
        <p:spPr>
          <a:xfrm>
            <a:off x="311712" y="150656"/>
            <a:ext cx="1550039" cy="616960"/>
          </a:xfrm>
          <a:prstGeom prst="rect">
            <a:avLst/>
          </a:prstGeom>
          <a:noFill/>
          <a:ln>
            <a:noFill/>
          </a:ln>
        </p:spPr>
      </p:pic>
      <p:pic>
        <p:nvPicPr>
          <p:cNvPr id="3" name="Picture 2">
            <a:extLst>
              <a:ext uri="{FF2B5EF4-FFF2-40B4-BE49-F238E27FC236}">
                <a16:creationId xmlns:a16="http://schemas.microsoft.com/office/drawing/2014/main" id="{E80A8D35-E89F-EDC1-DE45-EF8A8A8D726F}"/>
              </a:ext>
            </a:extLst>
          </p:cNvPr>
          <p:cNvPicPr>
            <a:picLocks noChangeAspect="1"/>
          </p:cNvPicPr>
          <p:nvPr/>
        </p:nvPicPr>
        <p:blipFill>
          <a:blip r:embed="rId4"/>
          <a:stretch>
            <a:fillRect/>
          </a:stretch>
        </p:blipFill>
        <p:spPr>
          <a:xfrm>
            <a:off x="8035759" y="62531"/>
            <a:ext cx="796529" cy="705085"/>
          </a:xfrm>
          <a:prstGeom prst="rect">
            <a:avLst/>
          </a:prstGeom>
        </p:spPr>
      </p:pic>
      <p:sp>
        <p:nvSpPr>
          <p:cNvPr id="141" name="Google Shape;141;p32"/>
          <p:cNvSpPr txBox="1"/>
          <p:nvPr/>
        </p:nvSpPr>
        <p:spPr>
          <a:xfrm>
            <a:off x="450450" y="1118111"/>
            <a:ext cx="82431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dirty="0">
                <a:latin typeface="IBM Plex Sans"/>
                <a:ea typeface="IBM Plex Sans"/>
                <a:cs typeface="IBM Plex Sans"/>
                <a:sym typeface="IBM Plex Sans"/>
              </a:rPr>
              <a:t>Project Objectives (What do you made in this project)</a:t>
            </a:r>
            <a:endParaRPr sz="2500" dirty="0">
              <a:latin typeface="IBM Plex Sans"/>
              <a:ea typeface="IBM Plex Sans"/>
              <a:cs typeface="IBM Plex Sans"/>
              <a:sym typeface="IBM Plex Sans"/>
            </a:endParaRPr>
          </a:p>
        </p:txBody>
      </p:sp>
      <p:sp>
        <p:nvSpPr>
          <p:cNvPr id="6" name="TextBox 5">
            <a:extLst>
              <a:ext uri="{FF2B5EF4-FFF2-40B4-BE49-F238E27FC236}">
                <a16:creationId xmlns:a16="http://schemas.microsoft.com/office/drawing/2014/main" id="{DF7A0901-5C9F-384A-7790-9E72FF5669C5}"/>
              </a:ext>
            </a:extLst>
          </p:cNvPr>
          <p:cNvSpPr txBox="1"/>
          <p:nvPr/>
        </p:nvSpPr>
        <p:spPr>
          <a:xfrm>
            <a:off x="311712" y="1604070"/>
            <a:ext cx="6393888" cy="3539430"/>
          </a:xfrm>
          <a:prstGeom prst="rect">
            <a:avLst/>
          </a:prstGeom>
          <a:noFill/>
        </p:spPr>
        <p:txBody>
          <a:bodyPr wrap="square">
            <a:spAutoFit/>
          </a:bodyPr>
          <a:lstStyle/>
          <a:p>
            <a:pPr marL="285750" lvl="0" indent="-285750">
              <a:buFont typeface="Wingdings" panose="05000000000000000000" pitchFamily="2" charset="2"/>
              <a:buChar char="q"/>
            </a:pPr>
            <a:r>
              <a:rPr lang="en-US" b="1" dirty="0">
                <a:latin typeface="Bodoni MT" panose="02070603080606020203" pitchFamily="18" charset="0"/>
              </a:rPr>
              <a:t>To develop a professional Online Food Delivery Website using AI.</a:t>
            </a:r>
          </a:p>
          <a:p>
            <a:pPr lvl="0"/>
            <a:r>
              <a:rPr lang="en-US" b="1" dirty="0">
                <a:latin typeface="Bodoni MT" panose="02070603080606020203" pitchFamily="18" charset="0"/>
              </a:rPr>
              <a:t> </a:t>
            </a:r>
          </a:p>
          <a:p>
            <a:pPr marL="285750" lvl="0" indent="-285750">
              <a:buFont typeface="Wingdings" panose="05000000000000000000" pitchFamily="2" charset="2"/>
              <a:buChar char="q"/>
            </a:pPr>
            <a:r>
              <a:rPr lang="en-US" b="1" dirty="0">
                <a:latin typeface="Bodoni MT" panose="02070603080606020203" pitchFamily="18" charset="0"/>
              </a:rPr>
              <a:t>To create a clean and attractive user interface.</a:t>
            </a:r>
          </a:p>
          <a:p>
            <a:pPr lvl="0"/>
            <a:r>
              <a:rPr lang="en-US" b="1" dirty="0">
                <a:latin typeface="Bodoni MT" panose="02070603080606020203" pitchFamily="18" charset="0"/>
              </a:rPr>
              <a:t> </a:t>
            </a:r>
          </a:p>
          <a:p>
            <a:pPr marL="285750" lvl="0" indent="-285750">
              <a:buFont typeface="Wingdings" panose="05000000000000000000" pitchFamily="2" charset="2"/>
              <a:buChar char="q"/>
            </a:pPr>
            <a:r>
              <a:rPr lang="en-US" b="1" dirty="0">
                <a:latin typeface="Bodoni MT" panose="02070603080606020203" pitchFamily="18" charset="0"/>
              </a:rPr>
              <a:t>To display different food categories such as Pizza, Burgers, Chinese, Beverages, Desserts, and Snacks. </a:t>
            </a:r>
          </a:p>
          <a:p>
            <a:pPr marL="285750" lvl="0" indent="-285750">
              <a:buFont typeface="Wingdings" panose="05000000000000000000" pitchFamily="2" charset="2"/>
              <a:buChar char="q"/>
            </a:pPr>
            <a:endParaRPr lang="en-US" b="1" dirty="0">
              <a:latin typeface="Bodoni MT" panose="02070603080606020203" pitchFamily="18" charset="0"/>
            </a:endParaRPr>
          </a:p>
          <a:p>
            <a:pPr marL="285750" lvl="0" indent="-285750">
              <a:buFont typeface="Wingdings" panose="05000000000000000000" pitchFamily="2" charset="2"/>
              <a:buChar char="q"/>
            </a:pPr>
            <a:r>
              <a:rPr lang="en-US" b="1" dirty="0">
                <a:latin typeface="Bodoni MT" panose="02070603080606020203" pitchFamily="18" charset="0"/>
              </a:rPr>
              <a:t>To provide customers with an easy online ordering process.</a:t>
            </a:r>
          </a:p>
          <a:p>
            <a:pPr marL="285750" lvl="0" indent="-285750">
              <a:buFont typeface="Wingdings" panose="05000000000000000000" pitchFamily="2" charset="2"/>
              <a:buChar char="q"/>
            </a:pPr>
            <a:endParaRPr lang="en-US" b="1" dirty="0">
              <a:latin typeface="Bodoni MT" panose="02070603080606020203" pitchFamily="18" charset="0"/>
            </a:endParaRPr>
          </a:p>
          <a:p>
            <a:pPr marL="285750" lvl="0" indent="-285750">
              <a:buFont typeface="Wingdings" panose="05000000000000000000" pitchFamily="2" charset="2"/>
              <a:buChar char="q"/>
            </a:pPr>
            <a:r>
              <a:rPr lang="en-US" b="1" dirty="0">
                <a:latin typeface="Bodoni MT" panose="02070603080606020203" pitchFamily="18" charset="0"/>
              </a:rPr>
              <a:t>To allow users to search and explore menu items.</a:t>
            </a:r>
          </a:p>
          <a:p>
            <a:pPr lvl="0"/>
            <a:r>
              <a:rPr lang="en-US" b="1" dirty="0">
                <a:latin typeface="Bodoni MT" panose="02070603080606020203" pitchFamily="18" charset="0"/>
              </a:rPr>
              <a:t> </a:t>
            </a:r>
          </a:p>
          <a:p>
            <a:pPr marL="285750" lvl="0" indent="-285750">
              <a:buFont typeface="Wingdings" panose="05000000000000000000" pitchFamily="2" charset="2"/>
              <a:buChar char="q"/>
            </a:pPr>
            <a:r>
              <a:rPr lang="en-US" b="1" dirty="0">
                <a:latin typeface="Bodoni MT" panose="02070603080606020203" pitchFamily="18" charset="0"/>
              </a:rPr>
              <a:t>To make the website fully responsive for desktop, tablet, and mobile devices.</a:t>
            </a:r>
          </a:p>
          <a:p>
            <a:pPr lvl="0"/>
            <a:r>
              <a:rPr lang="en-US" b="1" dirty="0">
                <a:latin typeface="Bodoni MT" panose="02070603080606020203" pitchFamily="18" charset="0"/>
              </a:rPr>
              <a:t> </a:t>
            </a:r>
          </a:p>
          <a:p>
            <a:pPr marL="285750" lvl="0" indent="-285750">
              <a:buFont typeface="Wingdings" panose="05000000000000000000" pitchFamily="2" charset="2"/>
              <a:buChar char="q"/>
            </a:pPr>
            <a:r>
              <a:rPr lang="en-US" b="1" dirty="0">
                <a:latin typeface="Bodoni MT" panose="02070603080606020203" pitchFamily="18" charset="0"/>
              </a:rPr>
              <a:t>To improve practical knowledge of AI-assisted web development. </a:t>
            </a:r>
          </a:p>
          <a:p>
            <a:pPr marL="285750" lvl="0" indent="-285750">
              <a:buFont typeface="Wingdings" panose="05000000000000000000" pitchFamily="2" charset="2"/>
              <a:buChar char="q"/>
            </a:pPr>
            <a:endParaRPr lang="en-US" b="1" dirty="0">
              <a:latin typeface="Bodoni MT" panose="02070603080606020203" pitchFamily="18" charset="0"/>
            </a:endParaRPr>
          </a:p>
          <a:p>
            <a:pPr marL="285750" lvl="0" indent="-285750">
              <a:buFont typeface="Wingdings" panose="05000000000000000000" pitchFamily="2" charset="2"/>
              <a:buChar char="q"/>
            </a:pPr>
            <a:r>
              <a:rPr lang="en-US" b="1" dirty="0">
                <a:latin typeface="Bodoni MT" panose="02070603080606020203" pitchFamily="18" charset="0"/>
              </a:rPr>
              <a:t>To deploy the website online for public access.</a:t>
            </a:r>
          </a:p>
        </p:txBody>
      </p:sp>
    </p:spTree>
    <p:extLst>
      <p:ext uri="{BB962C8B-B14F-4D97-AF65-F5344CB8AC3E}">
        <p14:creationId xmlns:p14="http://schemas.microsoft.com/office/powerpoint/2010/main" val="18659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C461B13-3AEB-F5E4-7371-68628F5D6FFD}"/>
            </a:ext>
          </a:extLst>
        </p:cNvPr>
        <p:cNvGrpSpPr/>
        <p:nvPr/>
      </p:nvGrpSpPr>
      <p:grpSpPr>
        <a:xfrm>
          <a:off x="0" y="0"/>
          <a:ext cx="0" cy="0"/>
          <a:chOff x="0" y="0"/>
          <a:chExt cx="0" cy="0"/>
        </a:xfrm>
      </p:grpSpPr>
      <p:pic>
        <p:nvPicPr>
          <p:cNvPr id="126" name="Google Shape;126;p29" title="BharatCares_Original@2x.png">
            <a:extLst>
              <a:ext uri="{FF2B5EF4-FFF2-40B4-BE49-F238E27FC236}">
                <a16:creationId xmlns:a16="http://schemas.microsoft.com/office/drawing/2014/main" id="{7840259B-1CEB-0625-1EDA-A0C5305C3B38}"/>
              </a:ext>
            </a:extLst>
          </p:cNvPr>
          <p:cNvPicPr preferRelativeResize="0"/>
          <p:nvPr/>
        </p:nvPicPr>
        <p:blipFill>
          <a:blip r:embed="rId3">
            <a:alphaModFix/>
          </a:blip>
          <a:stretch>
            <a:fillRect/>
          </a:stretch>
        </p:blipFill>
        <p:spPr>
          <a:xfrm>
            <a:off x="311712" y="150656"/>
            <a:ext cx="1550039" cy="616960"/>
          </a:xfrm>
          <a:prstGeom prst="rect">
            <a:avLst/>
          </a:prstGeom>
          <a:noFill/>
          <a:ln>
            <a:noFill/>
          </a:ln>
        </p:spPr>
      </p:pic>
      <p:pic>
        <p:nvPicPr>
          <p:cNvPr id="3" name="Picture 2">
            <a:extLst>
              <a:ext uri="{FF2B5EF4-FFF2-40B4-BE49-F238E27FC236}">
                <a16:creationId xmlns:a16="http://schemas.microsoft.com/office/drawing/2014/main" id="{D4723152-AB5F-D5D9-B573-9330294AE2BD}"/>
              </a:ext>
            </a:extLst>
          </p:cNvPr>
          <p:cNvPicPr>
            <a:picLocks noChangeAspect="1"/>
          </p:cNvPicPr>
          <p:nvPr/>
        </p:nvPicPr>
        <p:blipFill>
          <a:blip r:embed="rId4"/>
          <a:stretch>
            <a:fillRect/>
          </a:stretch>
        </p:blipFill>
        <p:spPr>
          <a:xfrm>
            <a:off x="8035759" y="62531"/>
            <a:ext cx="796529" cy="705085"/>
          </a:xfrm>
          <a:prstGeom prst="rect">
            <a:avLst/>
          </a:prstGeom>
        </p:spPr>
      </p:pic>
      <p:sp>
        <p:nvSpPr>
          <p:cNvPr id="146" name="Google Shape;146;p33"/>
          <p:cNvSpPr txBox="1"/>
          <p:nvPr/>
        </p:nvSpPr>
        <p:spPr>
          <a:xfrm>
            <a:off x="502214" y="1003741"/>
            <a:ext cx="8015400" cy="7878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dirty="0">
                <a:latin typeface="IBM Plex Sans"/>
                <a:ea typeface="IBM Plex Sans"/>
                <a:cs typeface="IBM Plex Sans"/>
                <a:sym typeface="IBM Plex Sans"/>
              </a:rPr>
              <a:t>Structure of Your project (What are the steps you follows?)</a:t>
            </a:r>
            <a:endParaRPr sz="2500" dirty="0">
              <a:latin typeface="IBM Plex Sans"/>
              <a:ea typeface="IBM Plex Sans"/>
              <a:cs typeface="IBM Plex Sans"/>
              <a:sym typeface="IBM Plex Sans"/>
            </a:endParaRPr>
          </a:p>
        </p:txBody>
      </p:sp>
      <p:sp>
        <p:nvSpPr>
          <p:cNvPr id="4" name="TextBox 3">
            <a:extLst>
              <a:ext uri="{FF2B5EF4-FFF2-40B4-BE49-F238E27FC236}">
                <a16:creationId xmlns:a16="http://schemas.microsoft.com/office/drawing/2014/main" id="{2C376DB2-CB19-592C-923C-2C4B5151CFF6}"/>
              </a:ext>
            </a:extLst>
          </p:cNvPr>
          <p:cNvSpPr txBox="1"/>
          <p:nvPr/>
        </p:nvSpPr>
        <p:spPr>
          <a:xfrm>
            <a:off x="406400" y="1941689"/>
            <a:ext cx="7629359" cy="2585323"/>
          </a:xfrm>
          <a:prstGeom prst="rect">
            <a:avLst/>
          </a:prstGeom>
          <a:noFill/>
        </p:spPr>
        <p:txBody>
          <a:bodyPr wrap="square">
            <a:spAutoFit/>
          </a:bodyPr>
          <a:lstStyle/>
          <a:p>
            <a:r>
              <a:rPr lang="en-US" sz="1800" dirty="0">
                <a:latin typeface="Bodoni MT" panose="02070603080606020203" pitchFamily="18" charset="0"/>
              </a:rPr>
              <a:t>Step 1-ollected project requirements and planned website features.</a:t>
            </a:r>
          </a:p>
          <a:p>
            <a:r>
              <a:rPr lang="en-US" sz="1800" dirty="0">
                <a:latin typeface="Bodoni MT" panose="02070603080606020203" pitchFamily="18" charset="0"/>
              </a:rPr>
              <a:t>Step 2-Generated the basic website using Artificial Intelligence tools.</a:t>
            </a:r>
          </a:p>
          <a:p>
            <a:r>
              <a:rPr lang="en-US" sz="1800" dirty="0">
                <a:latin typeface="Bodoni MT" panose="02070603080606020203" pitchFamily="18" charset="0"/>
              </a:rPr>
              <a:t>Step 3-Customized the homepage according to the food delivery theme.</a:t>
            </a:r>
          </a:p>
          <a:p>
            <a:r>
              <a:rPr lang="en-US" sz="1800" dirty="0">
                <a:latin typeface="Bodoni MT" panose="02070603080606020203" pitchFamily="18" charset="0"/>
              </a:rPr>
              <a:t>Step 4-Added food categories, food cards, prices, and images.</a:t>
            </a:r>
          </a:p>
          <a:p>
            <a:r>
              <a:rPr lang="en-US" sz="1800" dirty="0">
                <a:latin typeface="Bodoni MT" panose="02070603080606020203" pitchFamily="18" charset="0"/>
              </a:rPr>
              <a:t>Step 5-Implemented the online ordering and shopping cart functionality.</a:t>
            </a:r>
          </a:p>
          <a:p>
            <a:r>
              <a:rPr lang="en-US" sz="1800" dirty="0">
                <a:latin typeface="Bodoni MT" panose="02070603080606020203" pitchFamily="18" charset="0"/>
              </a:rPr>
              <a:t>Step 6-Designed responsive layouts for mobile, tablet, and desktop.</a:t>
            </a:r>
          </a:p>
          <a:p>
            <a:r>
              <a:rPr lang="en-US" sz="1800" dirty="0">
                <a:latin typeface="Bodoni MT" panose="02070603080606020203" pitchFamily="18" charset="0"/>
              </a:rPr>
              <a:t>Step 7-Tested every page and fixed bugs.</a:t>
            </a:r>
          </a:p>
          <a:p>
            <a:r>
              <a:rPr lang="en-US" sz="1800" dirty="0">
                <a:latin typeface="Bodoni MT" panose="02070603080606020203" pitchFamily="18" charset="0"/>
              </a:rPr>
              <a:t>Step 8-Optimized the website for better performance.</a:t>
            </a:r>
          </a:p>
          <a:p>
            <a:r>
              <a:rPr lang="en-US" sz="1800" dirty="0">
                <a:latin typeface="Bodoni MT" panose="02070603080606020203" pitchFamily="18" charset="0"/>
              </a:rPr>
              <a:t>Step 9-Deployed the website online using </a:t>
            </a:r>
            <a:r>
              <a:rPr lang="en-US" sz="1800" dirty="0" err="1">
                <a:latin typeface="Bodoni MT" panose="02070603080606020203" pitchFamily="18" charset="0"/>
              </a:rPr>
              <a:t>Replit</a:t>
            </a:r>
            <a:r>
              <a:rPr lang="en-US" sz="1800" dirty="0">
                <a:latin typeface="Bodoni MT" panose="02070603080606020203" pitchFamily="18" charset="0"/>
              </a:rPr>
              <a:t>.</a:t>
            </a:r>
          </a:p>
        </p:txBody>
      </p:sp>
    </p:spTree>
    <p:extLst>
      <p:ext uri="{BB962C8B-B14F-4D97-AF65-F5344CB8AC3E}">
        <p14:creationId xmlns:p14="http://schemas.microsoft.com/office/powerpoint/2010/main" val="3304876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5E00366B-988C-C87D-01D7-802D162745E6}"/>
            </a:ext>
          </a:extLst>
        </p:cNvPr>
        <p:cNvGrpSpPr/>
        <p:nvPr/>
      </p:nvGrpSpPr>
      <p:grpSpPr>
        <a:xfrm>
          <a:off x="0" y="0"/>
          <a:ext cx="0" cy="0"/>
          <a:chOff x="0" y="0"/>
          <a:chExt cx="0" cy="0"/>
        </a:xfrm>
      </p:grpSpPr>
      <p:pic>
        <p:nvPicPr>
          <p:cNvPr id="126" name="Google Shape;126;p29" title="BharatCares_Original@2x.png">
            <a:extLst>
              <a:ext uri="{FF2B5EF4-FFF2-40B4-BE49-F238E27FC236}">
                <a16:creationId xmlns:a16="http://schemas.microsoft.com/office/drawing/2014/main" id="{ECFC4721-4A4B-B955-A487-7D1383EAC9D1}"/>
              </a:ext>
            </a:extLst>
          </p:cNvPr>
          <p:cNvPicPr preferRelativeResize="0"/>
          <p:nvPr/>
        </p:nvPicPr>
        <p:blipFill>
          <a:blip r:embed="rId3">
            <a:alphaModFix/>
          </a:blip>
          <a:stretch>
            <a:fillRect/>
          </a:stretch>
        </p:blipFill>
        <p:spPr>
          <a:xfrm>
            <a:off x="311712" y="150656"/>
            <a:ext cx="1550039" cy="616960"/>
          </a:xfrm>
          <a:prstGeom prst="rect">
            <a:avLst/>
          </a:prstGeom>
          <a:noFill/>
          <a:ln>
            <a:noFill/>
          </a:ln>
        </p:spPr>
      </p:pic>
      <p:pic>
        <p:nvPicPr>
          <p:cNvPr id="3" name="Picture 2">
            <a:extLst>
              <a:ext uri="{FF2B5EF4-FFF2-40B4-BE49-F238E27FC236}">
                <a16:creationId xmlns:a16="http://schemas.microsoft.com/office/drawing/2014/main" id="{3B751A6B-E737-7BF1-25A0-CF462FD683C1}"/>
              </a:ext>
            </a:extLst>
          </p:cNvPr>
          <p:cNvPicPr>
            <a:picLocks noChangeAspect="1"/>
          </p:cNvPicPr>
          <p:nvPr/>
        </p:nvPicPr>
        <p:blipFill>
          <a:blip r:embed="rId4"/>
          <a:stretch>
            <a:fillRect/>
          </a:stretch>
        </p:blipFill>
        <p:spPr>
          <a:xfrm>
            <a:off x="8035759" y="62531"/>
            <a:ext cx="796529" cy="705085"/>
          </a:xfrm>
          <a:prstGeom prst="rect">
            <a:avLst/>
          </a:prstGeom>
        </p:spPr>
      </p:pic>
      <p:sp>
        <p:nvSpPr>
          <p:cNvPr id="151" name="Google Shape;151;p34"/>
          <p:cNvSpPr txBox="1"/>
          <p:nvPr/>
        </p:nvSpPr>
        <p:spPr>
          <a:xfrm>
            <a:off x="502214" y="1056048"/>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dirty="0"/>
              <a:t>WEBSITE Link for Project</a:t>
            </a:r>
            <a:endParaRPr sz="2500" dirty="0">
              <a:latin typeface="Tahoma"/>
              <a:ea typeface="Tahoma"/>
              <a:cs typeface="Tahoma"/>
              <a:sym typeface="Tahoma"/>
            </a:endParaRPr>
          </a:p>
        </p:txBody>
      </p:sp>
      <p:sp>
        <p:nvSpPr>
          <p:cNvPr id="152" name="Google Shape;152;p34">
            <a:hlinkClick r:id="rId5"/>
          </p:cNvPr>
          <p:cNvSpPr txBox="1"/>
          <p:nvPr/>
        </p:nvSpPr>
        <p:spPr>
          <a:xfrm>
            <a:off x="656625" y="2374323"/>
            <a:ext cx="8015399" cy="523190"/>
          </a:xfrm>
          <a:prstGeom prst="rect">
            <a:avLst/>
          </a:prstGeom>
          <a:noFill/>
          <a:ln>
            <a:noFill/>
          </a:ln>
        </p:spPr>
        <p:txBody>
          <a:bodyPr spcFirstLastPara="1" wrap="square" lIns="91425" tIns="91425" rIns="91425" bIns="91425" anchor="t" anchorCtr="0">
            <a:spAutoFit/>
          </a:bodyPr>
          <a:lstStyle/>
          <a:p>
            <a:pPr lvl="0"/>
            <a:r>
              <a:rPr lang="en-US" sz="2200" b="1" u="sng" dirty="0">
                <a:solidFill>
                  <a:schemeClr val="hlink"/>
                </a:solidFill>
              </a:rPr>
              <a:t>https://github.com/</a:t>
            </a:r>
            <a:r>
              <a:rPr lang="en-US" sz="2200" b="1" u="sng" dirty="0">
                <a:solidFill>
                  <a:schemeClr val="hlink"/>
                </a:solidFill>
                <a:hlinkClick r:id="rId5"/>
              </a:rPr>
              <a:t>vaidikpatel178-star</a:t>
            </a:r>
            <a:r>
              <a:rPr lang="en-US" sz="2200" b="1" u="sng" dirty="0">
                <a:solidFill>
                  <a:schemeClr val="hlink"/>
                </a:solidFill>
              </a:rPr>
              <a:t>/IBM-PPT-NEW</a:t>
            </a:r>
            <a:endParaRPr lang="en-US" dirty="0"/>
          </a:p>
        </p:txBody>
      </p:sp>
      <p:sp>
        <p:nvSpPr>
          <p:cNvPr id="2" name="TextBox 1">
            <a:extLst>
              <a:ext uri="{FF2B5EF4-FFF2-40B4-BE49-F238E27FC236}">
                <a16:creationId xmlns:a16="http://schemas.microsoft.com/office/drawing/2014/main" id="{AA99B916-3448-FF9D-6AA4-8D56001C7AED}"/>
              </a:ext>
            </a:extLst>
          </p:cNvPr>
          <p:cNvSpPr txBox="1"/>
          <p:nvPr/>
        </p:nvSpPr>
        <p:spPr>
          <a:xfrm>
            <a:off x="656625" y="1762897"/>
            <a:ext cx="3141018" cy="307777"/>
          </a:xfrm>
          <a:prstGeom prst="rect">
            <a:avLst/>
          </a:prstGeom>
          <a:noFill/>
        </p:spPr>
        <p:txBody>
          <a:bodyPr wrap="square" rtlCol="0">
            <a:spAutoFit/>
          </a:bodyPr>
          <a:lstStyle/>
          <a:p>
            <a:r>
              <a:rPr lang="en-IN" dirty="0"/>
              <a:t>Example Given Below-</a:t>
            </a:r>
          </a:p>
        </p:txBody>
      </p:sp>
    </p:spTree>
    <p:extLst>
      <p:ext uri="{BB962C8B-B14F-4D97-AF65-F5344CB8AC3E}">
        <p14:creationId xmlns:p14="http://schemas.microsoft.com/office/powerpoint/2010/main" val="3355146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5C5EA01D-BC71-08C6-8326-7CF58F2F48BE}"/>
            </a:ext>
          </a:extLst>
        </p:cNvPr>
        <p:cNvGrpSpPr/>
        <p:nvPr/>
      </p:nvGrpSpPr>
      <p:grpSpPr>
        <a:xfrm>
          <a:off x="0" y="0"/>
          <a:ext cx="0" cy="0"/>
          <a:chOff x="0" y="0"/>
          <a:chExt cx="0" cy="0"/>
        </a:xfrm>
      </p:grpSpPr>
      <p:pic>
        <p:nvPicPr>
          <p:cNvPr id="126" name="Google Shape;126;p29" title="BharatCares_Original@2x.png">
            <a:extLst>
              <a:ext uri="{FF2B5EF4-FFF2-40B4-BE49-F238E27FC236}">
                <a16:creationId xmlns:a16="http://schemas.microsoft.com/office/drawing/2014/main" id="{FBE4DF29-6B4F-5050-ED10-AA0505F7EB82}"/>
              </a:ext>
            </a:extLst>
          </p:cNvPr>
          <p:cNvPicPr preferRelativeResize="0"/>
          <p:nvPr/>
        </p:nvPicPr>
        <p:blipFill>
          <a:blip r:embed="rId3">
            <a:alphaModFix/>
          </a:blip>
          <a:stretch>
            <a:fillRect/>
          </a:stretch>
        </p:blipFill>
        <p:spPr>
          <a:xfrm>
            <a:off x="311712" y="150656"/>
            <a:ext cx="1550039" cy="616960"/>
          </a:xfrm>
          <a:prstGeom prst="rect">
            <a:avLst/>
          </a:prstGeom>
          <a:noFill/>
          <a:ln>
            <a:noFill/>
          </a:ln>
        </p:spPr>
      </p:pic>
      <p:pic>
        <p:nvPicPr>
          <p:cNvPr id="3" name="Picture 2">
            <a:extLst>
              <a:ext uri="{FF2B5EF4-FFF2-40B4-BE49-F238E27FC236}">
                <a16:creationId xmlns:a16="http://schemas.microsoft.com/office/drawing/2014/main" id="{98ED099E-2B8E-6846-8FEB-5E1903F9A31F}"/>
              </a:ext>
            </a:extLst>
          </p:cNvPr>
          <p:cNvPicPr>
            <a:picLocks noChangeAspect="1"/>
          </p:cNvPicPr>
          <p:nvPr/>
        </p:nvPicPr>
        <p:blipFill>
          <a:blip r:embed="rId4"/>
          <a:stretch>
            <a:fillRect/>
          </a:stretch>
        </p:blipFill>
        <p:spPr>
          <a:xfrm>
            <a:off x="8035759" y="62531"/>
            <a:ext cx="796529" cy="705085"/>
          </a:xfrm>
          <a:prstGeom prst="rect">
            <a:avLst/>
          </a:prstGeom>
        </p:spPr>
      </p:pic>
      <p:sp>
        <p:nvSpPr>
          <p:cNvPr id="157" name="Google Shape;157;p35"/>
          <p:cNvSpPr txBox="1"/>
          <p:nvPr/>
        </p:nvSpPr>
        <p:spPr>
          <a:xfrm>
            <a:off x="564289" y="1143228"/>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dirty="0"/>
              <a:t>Advantages and Limitations of Your Project</a:t>
            </a:r>
            <a:endParaRPr sz="2500" dirty="0">
              <a:latin typeface="Tahoma"/>
              <a:ea typeface="Tahoma"/>
              <a:cs typeface="Tahoma"/>
              <a:sym typeface="Tahoma"/>
            </a:endParaRPr>
          </a:p>
        </p:txBody>
      </p:sp>
      <p:graphicFrame>
        <p:nvGraphicFramePr>
          <p:cNvPr id="158" name="Google Shape;158;p35"/>
          <p:cNvGraphicFramePr/>
          <p:nvPr>
            <p:extLst>
              <p:ext uri="{D42A27DB-BD31-4B8C-83A1-F6EECF244321}">
                <p14:modId xmlns:p14="http://schemas.microsoft.com/office/powerpoint/2010/main" val="1083874673"/>
              </p:ext>
            </p:extLst>
          </p:nvPr>
        </p:nvGraphicFramePr>
        <p:xfrm>
          <a:off x="750688" y="1649648"/>
          <a:ext cx="7239000" cy="3343196"/>
        </p:xfrm>
        <a:graphic>
          <a:graphicData uri="http://schemas.openxmlformats.org/drawingml/2006/table">
            <a:tbl>
              <a:tblPr>
                <a:noFill/>
                <a:tableStyleId>{4B6E9F5D-FA2C-4E0B-A7F6-4F3C31E6F79C}</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661046">
                <a:tc>
                  <a:txBody>
                    <a:bodyPr/>
                    <a:lstStyle/>
                    <a:p>
                      <a:pPr marL="0" lvl="0" indent="0" algn="l" rtl="0">
                        <a:spcBef>
                          <a:spcPts val="0"/>
                        </a:spcBef>
                        <a:spcAft>
                          <a:spcPts val="0"/>
                        </a:spcAft>
                        <a:buNone/>
                      </a:pPr>
                      <a:r>
                        <a:rPr lang="en"/>
                        <a:t>ADVANTAGES </a:t>
                      </a:r>
                      <a:endParaRPr/>
                    </a:p>
                  </a:txBody>
                  <a:tcPr marL="91425" marR="91425" marT="91425" marB="91425">
                    <a:solidFill>
                      <a:schemeClr val="accent6"/>
                    </a:solidFill>
                  </a:tcPr>
                </a:tc>
                <a:tc>
                  <a:txBody>
                    <a:bodyPr/>
                    <a:lstStyle/>
                    <a:p>
                      <a:pPr marL="0" lvl="0" indent="0" algn="l" rtl="0">
                        <a:spcBef>
                          <a:spcPts val="0"/>
                        </a:spcBef>
                        <a:spcAft>
                          <a:spcPts val="0"/>
                        </a:spcAft>
                        <a:buNone/>
                      </a:pPr>
                      <a:r>
                        <a:rPr lang="en"/>
                        <a:t>LIMITATIONS</a:t>
                      </a:r>
                      <a:endParaRPr/>
                    </a:p>
                  </a:txBody>
                  <a:tcPr marL="91425" marR="91425" marT="91425" marB="91425">
                    <a:solidFill>
                      <a:schemeClr val="accent1"/>
                    </a:solidFill>
                  </a:tcPr>
                </a:tc>
                <a:extLst>
                  <a:ext uri="{0D108BD9-81ED-4DB2-BD59-A6C34878D82A}">
                    <a16:rowId xmlns:a16="http://schemas.microsoft.com/office/drawing/2014/main" val="10000"/>
                  </a:ext>
                </a:extLst>
              </a:tr>
              <a:tr h="800847">
                <a:tc>
                  <a:txBody>
                    <a:bodyPr/>
                    <a:lstStyle/>
                    <a:p>
                      <a:pPr marL="0" lvl="0" indent="0" algn="l" rtl="0">
                        <a:spcBef>
                          <a:spcPts val="0"/>
                        </a:spcBef>
                        <a:spcAft>
                          <a:spcPts val="0"/>
                        </a:spcAft>
                        <a:buNone/>
                      </a:pPr>
                      <a:r>
                        <a:rPr lang="en-US" b="1" dirty="0"/>
                        <a:t>User-Friendly Interface:</a:t>
                      </a:r>
                      <a:r>
                        <a:rPr lang="en-US" dirty="0"/>
                        <a:t> Customers can easily browse the menu, select food items, and place orders without any difficulty.</a:t>
                      </a:r>
                      <a:endParaRPr dirty="0"/>
                    </a:p>
                  </a:txBody>
                  <a:tcPr marL="91425" marR="91425" marT="91425" marB="91425"/>
                </a:tc>
                <a:tc>
                  <a:txBody>
                    <a:bodyPr/>
                    <a:lstStyle/>
                    <a:p>
                      <a:pPr marL="0" lvl="0" indent="0" algn="l" rtl="0">
                        <a:spcBef>
                          <a:spcPts val="0"/>
                        </a:spcBef>
                        <a:spcAft>
                          <a:spcPts val="0"/>
                        </a:spcAft>
                        <a:buNone/>
                      </a:pPr>
                      <a:r>
                        <a:rPr lang="en-US" b="1" dirty="0"/>
                        <a:t>Internet Required:</a:t>
                      </a:r>
                      <a:r>
                        <a:rPr lang="en-US" dirty="0"/>
                        <a:t> The website can only be accessed with an active internet connection.</a:t>
                      </a:r>
                      <a:endParaRPr dirty="0"/>
                    </a:p>
                  </a:txBody>
                  <a:tcPr marL="91425" marR="91425" marT="91425" marB="91425"/>
                </a:tc>
                <a:extLst>
                  <a:ext uri="{0D108BD9-81ED-4DB2-BD59-A6C34878D82A}">
                    <a16:rowId xmlns:a16="http://schemas.microsoft.com/office/drawing/2014/main" val="10001"/>
                  </a:ext>
                </a:extLst>
              </a:tr>
              <a:tr h="800847">
                <a:tc>
                  <a:txBody>
                    <a:bodyPr/>
                    <a:lstStyle/>
                    <a:p>
                      <a:pPr marL="0" lvl="0" indent="0" algn="l" rtl="0">
                        <a:spcBef>
                          <a:spcPts val="0"/>
                        </a:spcBef>
                        <a:spcAft>
                          <a:spcPts val="0"/>
                        </a:spcAft>
                        <a:buNone/>
                      </a:pPr>
                      <a:r>
                        <a:rPr lang="en-US" b="1" dirty="0"/>
                        <a:t>Fast and Responsive Design:</a:t>
                      </a:r>
                      <a:r>
                        <a:rPr lang="en-US" dirty="0"/>
                        <a:t> The website loads quickly and works smoothly on mobile, tablet, and desktop devices..</a:t>
                      </a:r>
                      <a:endParaRPr dirty="0"/>
                    </a:p>
                  </a:txBody>
                  <a:tcPr marL="91425" marR="91425" marT="91425" marB="91425"/>
                </a:tc>
                <a:tc>
                  <a:txBody>
                    <a:bodyPr/>
                    <a:lstStyle/>
                    <a:p>
                      <a:pPr marL="0" lvl="0" indent="0" algn="l" rtl="0">
                        <a:spcBef>
                          <a:spcPts val="0"/>
                        </a:spcBef>
                        <a:spcAft>
                          <a:spcPts val="0"/>
                        </a:spcAft>
                        <a:buNone/>
                      </a:pPr>
                      <a:r>
                        <a:rPr lang="en-US" b="1" dirty="0"/>
                        <a:t>No Live Delivery Tracking:</a:t>
                      </a:r>
                      <a:r>
                        <a:rPr lang="en-US" dirty="0"/>
                        <a:t> Customers cannot track their order location in real time.</a:t>
                      </a:r>
                      <a:endParaRPr dirty="0"/>
                    </a:p>
                  </a:txBody>
                  <a:tcPr marL="91425" marR="91425" marT="91425" marB="91425"/>
                </a:tc>
                <a:extLst>
                  <a:ext uri="{0D108BD9-81ED-4DB2-BD59-A6C34878D82A}">
                    <a16:rowId xmlns:a16="http://schemas.microsoft.com/office/drawing/2014/main" val="10002"/>
                  </a:ext>
                </a:extLst>
              </a:tr>
              <a:tr h="1008481">
                <a:tc>
                  <a:txBody>
                    <a:bodyPr/>
                    <a:lstStyle/>
                    <a:p>
                      <a:pPr marL="0" lvl="0" indent="0" algn="l" rtl="0">
                        <a:spcBef>
                          <a:spcPts val="0"/>
                        </a:spcBef>
                        <a:spcAft>
                          <a:spcPts val="0"/>
                        </a:spcAft>
                        <a:buNone/>
                      </a:pPr>
                      <a:r>
                        <a:rPr lang="en-US" b="1" dirty="0"/>
                        <a:t>. AI-Powered Development:</a:t>
                      </a:r>
                      <a:r>
                        <a:rPr lang="en-US" dirty="0"/>
                        <a:t> Artificial Intelligence helped reduce development time and made website creation faster and more efficient..</a:t>
                      </a:r>
                      <a:endParaRPr dirty="0"/>
                    </a:p>
                  </a:txBody>
                  <a:tcPr marL="91425" marR="91425" marT="91425" marB="91425"/>
                </a:tc>
                <a:tc>
                  <a:txBody>
                    <a:bodyPr/>
                    <a:lstStyle/>
                    <a:p>
                      <a:pPr marL="0" lvl="0" indent="0" algn="l" rtl="0">
                        <a:spcBef>
                          <a:spcPts val="0"/>
                        </a:spcBef>
                        <a:spcAft>
                          <a:spcPts val="0"/>
                        </a:spcAft>
                        <a:buNone/>
                      </a:pPr>
                      <a:r>
                        <a:rPr lang="en-US" b="1" dirty="0"/>
                        <a:t>Limited Backend Features:</a:t>
                      </a:r>
                      <a:r>
                        <a:rPr lang="en-US" dirty="0"/>
                        <a:t> Features like secure online payment, user accounts, and database storage are not fully implemented.</a:t>
                      </a:r>
                      <a:endParaRPr dirty="0"/>
                    </a:p>
                  </a:txBody>
                  <a:tcPr marL="91425" marR="91425" marT="91425" marB="91425"/>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70260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BC03319-C726-6C90-6F72-8CBE8ACD823D}"/>
            </a:ext>
          </a:extLst>
        </p:cNvPr>
        <p:cNvGrpSpPr/>
        <p:nvPr/>
      </p:nvGrpSpPr>
      <p:grpSpPr>
        <a:xfrm>
          <a:off x="0" y="0"/>
          <a:ext cx="0" cy="0"/>
          <a:chOff x="0" y="0"/>
          <a:chExt cx="0" cy="0"/>
        </a:xfrm>
      </p:grpSpPr>
      <p:pic>
        <p:nvPicPr>
          <p:cNvPr id="126" name="Google Shape;126;p29" title="BharatCares_Original@2x.png">
            <a:extLst>
              <a:ext uri="{FF2B5EF4-FFF2-40B4-BE49-F238E27FC236}">
                <a16:creationId xmlns:a16="http://schemas.microsoft.com/office/drawing/2014/main" id="{052813AF-FD08-4CF8-0C8B-D4F1CA0238A0}"/>
              </a:ext>
            </a:extLst>
          </p:cNvPr>
          <p:cNvPicPr preferRelativeResize="0"/>
          <p:nvPr/>
        </p:nvPicPr>
        <p:blipFill>
          <a:blip r:embed="rId3">
            <a:alphaModFix/>
          </a:blip>
          <a:stretch>
            <a:fillRect/>
          </a:stretch>
        </p:blipFill>
        <p:spPr>
          <a:xfrm>
            <a:off x="311712" y="150656"/>
            <a:ext cx="1550039" cy="616960"/>
          </a:xfrm>
          <a:prstGeom prst="rect">
            <a:avLst/>
          </a:prstGeom>
          <a:noFill/>
          <a:ln>
            <a:noFill/>
          </a:ln>
        </p:spPr>
      </p:pic>
      <p:pic>
        <p:nvPicPr>
          <p:cNvPr id="3" name="Picture 2">
            <a:extLst>
              <a:ext uri="{FF2B5EF4-FFF2-40B4-BE49-F238E27FC236}">
                <a16:creationId xmlns:a16="http://schemas.microsoft.com/office/drawing/2014/main" id="{07FFA89D-F580-9D89-C2CF-1F150A5ED8B0}"/>
              </a:ext>
            </a:extLst>
          </p:cNvPr>
          <p:cNvPicPr>
            <a:picLocks noChangeAspect="1"/>
          </p:cNvPicPr>
          <p:nvPr/>
        </p:nvPicPr>
        <p:blipFill>
          <a:blip r:embed="rId4"/>
          <a:stretch>
            <a:fillRect/>
          </a:stretch>
        </p:blipFill>
        <p:spPr>
          <a:xfrm>
            <a:off x="8035759" y="62531"/>
            <a:ext cx="796529" cy="705085"/>
          </a:xfrm>
          <a:prstGeom prst="rect">
            <a:avLst/>
          </a:prstGeom>
        </p:spPr>
      </p:pic>
      <p:sp>
        <p:nvSpPr>
          <p:cNvPr id="163" name="Google Shape;163;p36"/>
          <p:cNvSpPr txBox="1"/>
          <p:nvPr/>
        </p:nvSpPr>
        <p:spPr>
          <a:xfrm>
            <a:off x="564289" y="1090903"/>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dirty="0"/>
              <a:t>Challenges you faced (What difficulties you face?)</a:t>
            </a:r>
            <a:endParaRPr sz="2500" dirty="0">
              <a:latin typeface="Tahoma"/>
              <a:ea typeface="Tahoma"/>
              <a:cs typeface="Tahoma"/>
              <a:sym typeface="Tahoma"/>
            </a:endParaRPr>
          </a:p>
        </p:txBody>
      </p:sp>
      <p:sp>
        <p:nvSpPr>
          <p:cNvPr id="4" name="TextBox 3">
            <a:extLst>
              <a:ext uri="{FF2B5EF4-FFF2-40B4-BE49-F238E27FC236}">
                <a16:creationId xmlns:a16="http://schemas.microsoft.com/office/drawing/2014/main" id="{A9E33D67-503B-DCAC-AB78-51B060427D11}"/>
              </a:ext>
            </a:extLst>
          </p:cNvPr>
          <p:cNvSpPr txBox="1"/>
          <p:nvPr/>
        </p:nvSpPr>
        <p:spPr>
          <a:xfrm>
            <a:off x="564289" y="1817390"/>
            <a:ext cx="7608867" cy="2926299"/>
          </a:xfrm>
          <a:prstGeom prst="rect">
            <a:avLst/>
          </a:prstGeom>
          <a:noFill/>
        </p:spPr>
        <p:txBody>
          <a:bodyPr wrap="square">
            <a:spAutoFit/>
          </a:bodyPr>
          <a:lstStyle/>
          <a:p>
            <a:pPr marL="342900" lvl="0" indent="-342900">
              <a:buFont typeface="Wingdings" panose="05000000000000000000" pitchFamily="2" charset="2"/>
              <a:buChar char="q"/>
            </a:pPr>
            <a:r>
              <a:rPr lang="en-US" sz="2000" b="1" dirty="0">
                <a:latin typeface="Bodoni MT" panose="02070603080606020203" pitchFamily="18" charset="0"/>
              </a:rPr>
              <a:t>Understanding AI-Generated Code</a:t>
            </a:r>
            <a:br>
              <a:rPr lang="en-US" sz="2000" dirty="0">
                <a:latin typeface="Bodoni MT" panose="02070603080606020203" pitchFamily="18" charset="0"/>
              </a:rPr>
            </a:br>
            <a:r>
              <a:rPr lang="en-US" sz="2000" dirty="0">
                <a:latin typeface="Bodoni MT" panose="02070603080606020203" pitchFamily="18" charset="0"/>
              </a:rPr>
              <a:t>It was challenging to understand and customize the AI-generated code according to the project requirements. </a:t>
            </a:r>
          </a:p>
          <a:p>
            <a:pPr marL="342900" lvl="0" indent="-342900">
              <a:buFont typeface="Wingdings" panose="05000000000000000000" pitchFamily="2" charset="2"/>
              <a:buChar char="q"/>
            </a:pPr>
            <a:r>
              <a:rPr lang="en-US" sz="2000" b="1" dirty="0">
                <a:latin typeface="Bodoni MT" panose="02070603080606020203" pitchFamily="18" charset="0"/>
              </a:rPr>
              <a:t>Responsive Design Issues</a:t>
            </a:r>
            <a:br>
              <a:rPr lang="en-US" sz="2000" dirty="0">
                <a:latin typeface="Bodoni MT" panose="02070603080606020203" pitchFamily="18" charset="0"/>
              </a:rPr>
            </a:br>
            <a:r>
              <a:rPr lang="en-US" sz="2000" dirty="0">
                <a:latin typeface="Bodoni MT" panose="02070603080606020203" pitchFamily="18" charset="0"/>
              </a:rPr>
              <a:t>Making the website look perfect on mobile, tablet, and desktop devices required several adjustments and testing. </a:t>
            </a:r>
          </a:p>
          <a:p>
            <a:pPr marL="342900" lvl="0" indent="-342900">
              <a:buFont typeface="Wingdings" panose="05000000000000000000" pitchFamily="2" charset="2"/>
              <a:buChar char="q"/>
            </a:pPr>
            <a:r>
              <a:rPr lang="en-US" sz="2000" b="1" dirty="0">
                <a:latin typeface="Bodoni MT" panose="02070603080606020203" pitchFamily="18" charset="0"/>
              </a:rPr>
              <a:t>Testing and Bug Fixing</a:t>
            </a:r>
            <a:br>
              <a:rPr lang="en-US" sz="2000" dirty="0">
                <a:latin typeface="Bodoni MT" panose="02070603080606020203" pitchFamily="18" charset="0"/>
              </a:rPr>
            </a:br>
            <a:r>
              <a:rPr lang="en-US" sz="2000" dirty="0">
                <a:latin typeface="Bodoni MT" panose="02070603080606020203" pitchFamily="18" charset="0"/>
              </a:rPr>
              <a:t>Finding and fixing issues related to navigation, ordering flow, and user interface before deployment took extra effort.</a:t>
            </a:r>
          </a:p>
        </p:txBody>
      </p:sp>
    </p:spTree>
    <p:extLst>
      <p:ext uri="{BB962C8B-B14F-4D97-AF65-F5344CB8AC3E}">
        <p14:creationId xmlns:p14="http://schemas.microsoft.com/office/powerpoint/2010/main" val="1351340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A431E997-C35B-B8AD-5787-70A3E28C7F11}"/>
            </a:ext>
          </a:extLst>
        </p:cNvPr>
        <p:cNvGrpSpPr/>
        <p:nvPr/>
      </p:nvGrpSpPr>
      <p:grpSpPr>
        <a:xfrm>
          <a:off x="0" y="0"/>
          <a:ext cx="0" cy="0"/>
          <a:chOff x="0" y="0"/>
          <a:chExt cx="0" cy="0"/>
        </a:xfrm>
      </p:grpSpPr>
      <p:pic>
        <p:nvPicPr>
          <p:cNvPr id="126" name="Google Shape;126;p29" title="BharatCares_Original@2x.png">
            <a:extLst>
              <a:ext uri="{FF2B5EF4-FFF2-40B4-BE49-F238E27FC236}">
                <a16:creationId xmlns:a16="http://schemas.microsoft.com/office/drawing/2014/main" id="{B68E63FC-1FA1-D173-1984-AAC467EE6DB4}"/>
              </a:ext>
            </a:extLst>
          </p:cNvPr>
          <p:cNvPicPr preferRelativeResize="0"/>
          <p:nvPr/>
        </p:nvPicPr>
        <p:blipFill>
          <a:blip r:embed="rId3">
            <a:alphaModFix/>
          </a:blip>
          <a:stretch>
            <a:fillRect/>
          </a:stretch>
        </p:blipFill>
        <p:spPr>
          <a:xfrm>
            <a:off x="311712" y="150656"/>
            <a:ext cx="1550039" cy="616960"/>
          </a:xfrm>
          <a:prstGeom prst="rect">
            <a:avLst/>
          </a:prstGeom>
          <a:noFill/>
          <a:ln>
            <a:noFill/>
          </a:ln>
        </p:spPr>
      </p:pic>
      <p:pic>
        <p:nvPicPr>
          <p:cNvPr id="3" name="Picture 2">
            <a:extLst>
              <a:ext uri="{FF2B5EF4-FFF2-40B4-BE49-F238E27FC236}">
                <a16:creationId xmlns:a16="http://schemas.microsoft.com/office/drawing/2014/main" id="{189A1CC3-B4A2-3A9C-6990-6CAD6F7B4ACB}"/>
              </a:ext>
            </a:extLst>
          </p:cNvPr>
          <p:cNvPicPr>
            <a:picLocks noChangeAspect="1"/>
          </p:cNvPicPr>
          <p:nvPr/>
        </p:nvPicPr>
        <p:blipFill>
          <a:blip r:embed="rId4"/>
          <a:stretch>
            <a:fillRect/>
          </a:stretch>
        </p:blipFill>
        <p:spPr>
          <a:xfrm>
            <a:off x="8035759" y="62531"/>
            <a:ext cx="796529" cy="705085"/>
          </a:xfrm>
          <a:prstGeom prst="rect">
            <a:avLst/>
          </a:prstGeom>
        </p:spPr>
      </p:pic>
      <p:sp>
        <p:nvSpPr>
          <p:cNvPr id="168" name="Google Shape;168;p37"/>
          <p:cNvSpPr txBox="1"/>
          <p:nvPr/>
        </p:nvSpPr>
        <p:spPr>
          <a:xfrm>
            <a:off x="564289" y="1247828"/>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dirty="0"/>
              <a:t>Conclusion</a:t>
            </a:r>
            <a:endParaRPr sz="2500" b="1" dirty="0"/>
          </a:p>
        </p:txBody>
      </p:sp>
      <p:sp>
        <p:nvSpPr>
          <p:cNvPr id="4" name="TextBox 3">
            <a:extLst>
              <a:ext uri="{FF2B5EF4-FFF2-40B4-BE49-F238E27FC236}">
                <a16:creationId xmlns:a16="http://schemas.microsoft.com/office/drawing/2014/main" id="{8549C527-A35A-184D-9F80-1650E736BCAA}"/>
              </a:ext>
            </a:extLst>
          </p:cNvPr>
          <p:cNvSpPr txBox="1"/>
          <p:nvPr/>
        </p:nvSpPr>
        <p:spPr>
          <a:xfrm>
            <a:off x="311711" y="1840089"/>
            <a:ext cx="7724047" cy="2862322"/>
          </a:xfrm>
          <a:prstGeom prst="rect">
            <a:avLst/>
          </a:prstGeom>
          <a:noFill/>
        </p:spPr>
        <p:txBody>
          <a:bodyPr wrap="square">
            <a:spAutoFit/>
          </a:bodyPr>
          <a:lstStyle/>
          <a:p>
            <a:pPr marL="342900" indent="-342900">
              <a:buFont typeface="Wingdings" panose="05000000000000000000" pitchFamily="2" charset="2"/>
              <a:buChar char="q"/>
            </a:pPr>
            <a:r>
              <a:rPr lang="en-US" sz="2000" dirty="0">
                <a:latin typeface="Bodoni MT" panose="02070603080606020203" pitchFamily="18" charset="0"/>
              </a:rPr>
              <a:t>The Bite-Ru Online Food Delivery Website was successfully developed using Artificial Intelligence and modern web technologies. This project helped me gain practical knowledge of AI-assisted website development, responsive web design, and website deployment. Overall, it enhanced my technical skills and demonstrated how AI can simplify and accelerate web development. In the future, the website can be further improved by adding features such as online payment, live order tracking, customer login, and an admin dashboard.</a:t>
            </a:r>
          </a:p>
        </p:txBody>
      </p:sp>
    </p:spTree>
    <p:extLst>
      <p:ext uri="{BB962C8B-B14F-4D97-AF65-F5344CB8AC3E}">
        <p14:creationId xmlns:p14="http://schemas.microsoft.com/office/powerpoint/2010/main" val="1050331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3868C13B-DCAB-6B80-D574-E336F9B7DFB2}"/>
            </a:ext>
          </a:extLst>
        </p:cNvPr>
        <p:cNvGrpSpPr/>
        <p:nvPr/>
      </p:nvGrpSpPr>
      <p:grpSpPr>
        <a:xfrm>
          <a:off x="0" y="0"/>
          <a:ext cx="0" cy="0"/>
          <a:chOff x="0" y="0"/>
          <a:chExt cx="0" cy="0"/>
        </a:xfrm>
      </p:grpSpPr>
      <p:pic>
        <p:nvPicPr>
          <p:cNvPr id="126" name="Google Shape;126;p29" title="BharatCares_Original@2x.png">
            <a:extLst>
              <a:ext uri="{FF2B5EF4-FFF2-40B4-BE49-F238E27FC236}">
                <a16:creationId xmlns:a16="http://schemas.microsoft.com/office/drawing/2014/main" id="{2FDAEC24-4608-2EA4-8D6D-B47F106B65A4}"/>
              </a:ext>
            </a:extLst>
          </p:cNvPr>
          <p:cNvPicPr preferRelativeResize="0"/>
          <p:nvPr/>
        </p:nvPicPr>
        <p:blipFill>
          <a:blip r:embed="rId3">
            <a:alphaModFix/>
          </a:blip>
          <a:stretch>
            <a:fillRect/>
          </a:stretch>
        </p:blipFill>
        <p:spPr>
          <a:xfrm>
            <a:off x="311712" y="150656"/>
            <a:ext cx="1550039" cy="616960"/>
          </a:xfrm>
          <a:prstGeom prst="rect">
            <a:avLst/>
          </a:prstGeom>
          <a:noFill/>
          <a:ln>
            <a:noFill/>
          </a:ln>
        </p:spPr>
      </p:pic>
      <p:pic>
        <p:nvPicPr>
          <p:cNvPr id="3" name="Picture 2">
            <a:extLst>
              <a:ext uri="{FF2B5EF4-FFF2-40B4-BE49-F238E27FC236}">
                <a16:creationId xmlns:a16="http://schemas.microsoft.com/office/drawing/2014/main" id="{4AECD033-CC12-0984-3CBF-93B40A380EFA}"/>
              </a:ext>
            </a:extLst>
          </p:cNvPr>
          <p:cNvPicPr>
            <a:picLocks noChangeAspect="1"/>
          </p:cNvPicPr>
          <p:nvPr/>
        </p:nvPicPr>
        <p:blipFill>
          <a:blip r:embed="rId4"/>
          <a:stretch>
            <a:fillRect/>
          </a:stretch>
        </p:blipFill>
        <p:spPr>
          <a:xfrm>
            <a:off x="8035759" y="62531"/>
            <a:ext cx="796529" cy="705085"/>
          </a:xfrm>
          <a:prstGeom prst="rect">
            <a:avLst/>
          </a:prstGeom>
        </p:spPr>
      </p:pic>
      <p:sp>
        <p:nvSpPr>
          <p:cNvPr id="173" name="Google Shape;173;p38"/>
          <p:cNvSpPr txBox="1"/>
          <p:nvPr/>
        </p:nvSpPr>
        <p:spPr>
          <a:xfrm>
            <a:off x="2372920" y="2011203"/>
            <a:ext cx="4039200" cy="858412"/>
          </a:xfrm>
          <a:prstGeom prst="rect">
            <a:avLst/>
          </a:prstGeom>
          <a:noFill/>
          <a:ln>
            <a:noFill/>
          </a:ln>
        </p:spPr>
        <p:txBody>
          <a:bodyPr spcFirstLastPara="1" wrap="square" lIns="0" tIns="27150" rIns="0" bIns="0" anchor="t" anchorCtr="0">
            <a:spAutoFit/>
          </a:bodyPr>
          <a:lstStyle/>
          <a:p>
            <a:pPr marL="25400" lvl="0" indent="0" algn="l" rtl="0">
              <a:lnSpc>
                <a:spcPct val="100000"/>
              </a:lnSpc>
              <a:spcBef>
                <a:spcPts val="0"/>
              </a:spcBef>
              <a:spcAft>
                <a:spcPts val="0"/>
              </a:spcAft>
              <a:buNone/>
            </a:pPr>
            <a:r>
              <a:rPr lang="en" sz="5400" b="1" dirty="0">
                <a:latin typeface="Bell MT" panose="02020503060305020303" pitchFamily="18" charset="0"/>
                <a:sym typeface="Arial"/>
              </a:rPr>
              <a:t>Thank You </a:t>
            </a:r>
            <a:endParaRPr sz="5400" b="1" dirty="0">
              <a:latin typeface="Bell MT" panose="02020503060305020303" pitchFamily="18" charset="0"/>
            </a:endParaRPr>
          </a:p>
        </p:txBody>
      </p:sp>
    </p:spTree>
    <p:extLst>
      <p:ext uri="{BB962C8B-B14F-4D97-AF65-F5344CB8AC3E}">
        <p14:creationId xmlns:p14="http://schemas.microsoft.com/office/powerpoint/2010/main" val="373738811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775</Words>
  <Application>Microsoft Office PowerPoint</Application>
  <PresentationFormat>On-screen Show (16:9)</PresentationFormat>
  <Paragraphs>63</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Bodoni MT</vt:lpstr>
      <vt:lpstr>Tahoma</vt:lpstr>
      <vt:lpstr>IBM Plex Sans</vt:lpstr>
      <vt:lpstr>Arial</vt:lpstr>
      <vt:lpstr>Bell MT</vt:lpstr>
      <vt:lpstr>Wingdings</vt:lpstr>
      <vt:lpstr>Simple Light</vt:lpstr>
      <vt:lpstr>Project Title GTU SBTP -2026 (Subject Code: DI05000011)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patel krunal</cp:lastModifiedBy>
  <cp:revision>9</cp:revision>
  <dcterms:modified xsi:type="dcterms:W3CDTF">2026-06-28T16:48:06Z</dcterms:modified>
</cp:coreProperties>
</file>